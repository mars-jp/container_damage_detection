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1fd3fe6694af5" /><Relationship Type="http://schemas.openxmlformats.org/officeDocument/2006/relationships/extended-properties" Target="/docProps/app.xml" Id="R9028968ca0b34404" /><Relationship Type="http://schemas.openxmlformats.org/officeDocument/2006/relationships/officeDocument" Target="/ppt/presentation.xml" Id="Rd97db47aa0334d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e8d9488416487c"/>
  </p:sldMasterIdLst>
  <p:notesMasterIdLst>
    <p:notesMasterId xmlns:r="http://schemas.openxmlformats.org/officeDocument/2006/relationships" r:id="Rd943732afbc448ec"/>
  </p:notesMasterIdLst>
  <p:sldIdLst>
    <p:sldId xmlns:r="http://schemas.openxmlformats.org/officeDocument/2006/relationships" id="256" r:id="R3f9ff7630f154cc8"/>
    <p:sldId xmlns:r="http://schemas.openxmlformats.org/officeDocument/2006/relationships" id="257" r:id="Rf8dddd1e331d4b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a98f2fc8b43c3" /><Relationship Type="http://schemas.openxmlformats.org/officeDocument/2006/relationships/slideMaster" Target="/ppt/slideMasters/slideMaster1.xml" Id="Rbfe8d9488416487c" /><Relationship Type="http://schemas.openxmlformats.org/officeDocument/2006/relationships/notesMaster" Target="/ppt/notesMasters/notesMaster1.xml" Id="Rd943732afbc448ec" /><Relationship Type="http://schemas.openxmlformats.org/officeDocument/2006/relationships/presProps" Target="/ppt/presProps.xml" Id="R7712080fa59e43d6" /><Relationship Type="http://schemas.openxmlformats.org/officeDocument/2006/relationships/tableStyles" Target="/ppt/tableStyles.xml" Id="R429794885cd6403b" /><Relationship Type="http://schemas.openxmlformats.org/officeDocument/2006/relationships/slide" Target="/ppt/slides/slide1.xml" Id="R3f9ff7630f154cc8" /><Relationship Type="http://schemas.openxmlformats.org/officeDocument/2006/relationships/slide" Target="/ppt/slides/slide2.xml" Id="Rf8dddd1e331d4b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4a95d740f147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b81cf820f4d40" /><Relationship Type="http://schemas.openxmlformats.org/officeDocument/2006/relationships/notesMaster" Target="/ppt/notesMasters/notesMaster1.xml" Id="Rbcd5e4c5c77f41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865c27373a463b" /><Relationship Type="http://schemas.openxmlformats.org/officeDocument/2006/relationships/notesMaster" Target="/ppt/notesMasters/notesMaster1.xml" Id="Rbf38d34ea03240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01-luma：從輸入保留陰影中的相對明暗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D1. 亮度近似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Y=0.299R+0.587G+0.114B.</a:t>
            </a:r>
          </a:p>
          <a:p xmlns:a="http://schemas.openxmlformats.org/drawingml/2006/main">
            <a:r>
              <a:t>\tag{D1}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三通道收斂為一張無色彩明暗圖，綠色通道權重較大。此處直接作用於輸入 RGB，沒有額外做線性光反伽瑪校正，因此更精確的說法是灰階／luma 近似，不是物理光度量。保留原 RGB 主路也很重要：鏽蝕顏色仍由原路處理，不會只剩灰階。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D2. 局部平均與邊界處理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\mu_k(u,v)=\frac1{k^2}\sum_{(r,t)\in\Omega_k}Y(u+r,v+t),</a:t>
            </a:r>
          </a:p>
          <a:p xmlns:a="http://schemas.openxmlformats.org/drawingml/2006/main">
            <a:r>
              <a:t>\qquad k\in\{5,15\}.</a:t>
            </a:r>
          </a:p>
          <a:p xmlns:a="http://schemas.openxmlformats.org/drawingml/2006/main">
            <a:r>
              <a:t>\tag{D2}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5×5 表達較近鄰的背景，15×15 表達較大範圍的背景，兩者皆在原網路輸入尺寸計算。圖邊使用 replicate padding，把邊界值延伸出去；因此均勻亮面或均勻暗面不會因補零而多出假的邊緣。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D3. 有號相對對比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q_k=\frac{Y-\mu_k}{\mu_k+\epsilon},\quad</a:t>
            </a:r>
          </a:p>
          <a:p xmlns:a="http://schemas.openxmlformats.org/drawingml/2006/main">
            <a:r>
              <a:t>C_k=\tanh(q_k),\qquad\epsilon=1/255.</a:t>
            </a:r>
          </a:p>
          <a:p xmlns:a="http://schemas.openxmlformats.org/drawingml/2006/main">
            <a:r>
              <a:t>\tag{D3}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分子衡量比周圍亮或暗多少；保留正負號可區分亮側與暗側。分母把絕對差轉成相對周圍亮度的差，ε 避免除以零，tanh 限制極端值。ε 是加在分母中的穩定項，不是 `max(μ,ε)`，兩者運算不同。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若局部影像同時乘上 a，則：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q'_k=\frac{a(Y-\mu_k)}{a\mu_k+\epsilon}</a:t>
            </a:r>
          </a:p>
          <a:p xmlns:a="http://schemas.openxmlformats.org/drawingml/2006/main">
            <a:r>
              <a:t>     =\frac{Y-\mu_k}{\mu_k+\epsilon/a}.</a:t>
            </a:r>
          </a:p>
          <a:p xmlns:a="http://schemas.openxmlformats.org/drawingml/2006/main">
            <a:r>
              <a:t>\tag{D4}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 μ 遠大於 ε/a，q′ 接近 q，表示均勻變暗後相對對比可能較穩定。當環境非常暗，ε/a 變大、相對訊號會縮小；這是抑制極暗噪聲的代價。若陰影邊界穿過 5×5／15×15 區域，a 在區域內不一致，以上近似不成立，純陰影邊界仍會產生高對比。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若衰減係數 a 隨位置變化，連續近似的乘積微分為：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\nabla(aY)=a\nabla Y+Y\nabla a.</a:t>
            </a:r>
          </a:p>
          <a:p xmlns:a="http://schemas.openxmlformats.org/drawingml/2006/main">
            <a:r>
              <a:t>\tag{D4b}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第一項含原表面的明暗變化，第二項來自照明變化。即使表面沒有凹損，只要陰影邊界讓 ∇a 不為零，也會有梯度。因此 Sobel 或高通響應只是候選線索，後續上下文、正確標記與純陰影負例才決定是否當作損壞。這是分析用的連續近似，實際程式使用下節的離散濾波核。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示意：原 Y=0.20、μ=0.24，變暗為四分之一後 Y′=0.05、μ′=0.06。絕對差由 −0.04 變成 −0.01，經 D3 的相對對比分別約 −0.163 與 −0.155。這僅說明算子的數值行為，沒有證明這個區域是凹損。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D4. 水平／垂直梯度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K_x=\frac18\begin{bmatrix}-1&amp;0&amp;1\\-2&amp;0&amp;2\\-1&amp;0&amp;1\end{bmatrix},</a:t>
            </a:r>
          </a:p>
          <a:p xmlns:a="http://schemas.openxmlformats.org/drawingml/2006/main">
            <a:r>
              <a:t>\qquad K_y=\frac18\begin{bmatrix}-1&amp;-2&amp;-1\\0&amp;0&amp;0\\1&amp;2&amp;1\end{bmatrix},</a:t>
            </a:r>
          </a:p>
          <a:p xmlns:a="http://schemas.openxmlformats.org/drawingml/2006/main">
            <a:r>
              <a:t>\tag{D5}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g_x=K_x*Y,\quad g_y=K_y*Y,\quad</a:t>
            </a:r>
          </a:p>
          <a:p xmlns:a="http://schemas.openxmlformats.org/drawingml/2006/main">
            <a:r>
              <a:t>G_x=\tanh\!\left(\frac{g_x}{\mu_5+\epsilon}\right),\quad</a:t>
            </a:r>
          </a:p>
          <a:p xmlns:a="http://schemas.openxmlformats.org/drawingml/2006/main">
            <a:r>
              <a:t>G_y=\tanh\!\left(\frac{g_y}{\mu_5+\epsilon}\right).</a:t>
            </a:r>
          </a:p>
          <a:p xmlns:a="http://schemas.openxmlformats.org/drawingml/2006/main">
            <a:r>
              <a:t>\tag{D6}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 * 表示程式的空間濾波運算。Sobel 類核對一方向求差，同時在另一方向平滑；1/8 控制響應尺度。保留有號 x/y 梯度，可以描述凹損附近明暗轉折的方向，並未合成梯度大小或推算深度。貨櫃溝槽與投影陰影同樣有方向梯度，需由後續上下文與標記判別。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D5. 五通道細節與 RGB 主路融合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E=[Y,C_5,C_{15},G_x,G_y],\quad</a:t>
            </a:r>
          </a:p>
          <a:p xmlns:a="http://schemas.openxmlformats.org/drawingml/2006/main">
            <a:r>
              <a:t>D=\operatorname{DWConv}_{3\times3}(\operatorname{Conv}_{3\times3,s=2}(E)),</a:t>
            </a:r>
          </a:p>
          <a:p xmlns:a="http://schemas.openxmlformats.org/drawingml/2006/main">
            <a:r>
              <a:t>\tag{D7}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F=\operatorname{Conv}_{3\times3,s=2}(I),\quad</a:t>
            </a:r>
          </a:p>
          <a:p xmlns:a="http://schemas.openxmlformats.org/drawingml/2006/main">
            <a:r>
              <a:t>G=\sigma(W_g[F,D]+b_g),\quad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\tag{D8}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規模下 F、D 均為 16×320×320，G 為 1×320×320，對所有通道共用同位置的門控。Wg 是 1×1 卷積，能根據原特徵與細節學習位置選擇。D8 與 B7 一起說明新分支如何獲得梯度，原 Conv 的同名權重仍可載入。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局部統計與濾波在 FP32 計算後轉回輸入 dtype，降低黑暗處除法在低精度中的數值風險。這是實作的數值處理，不會增加額外影像資訊。alpha 學習後也可為負，旁路因此可修正或抵消某些訊號。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**01 的影響：**讓低亮度區的相對變化更明確地進入主幹，僅增加 962 個可學習參數。可能同時放大暗處噪聲、陰影界線及板面溝槽；固定局部平均等運算不算入參數量，但仍消耗時間。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E. 02-shallow：讓局部形狀直接到達預測頭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E1. 原路與新增路的精確位置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繼承 01，head 從八個輸入增至十個。每一個新增融合只處理同解析度的兩個特徵：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融合尺度 | 原 head 特徵 | 新增淺層來源 | n 規模來源通道 | 融合後通道與尺寸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P3 | layer 22 | FSNet layer 6 | 64 | 128×80×80 |</a:t>
            </a:r>
          </a:p>
          <a:p xmlns:a="http://schemas.openxmlformats.org/drawingml/2006/main">
            <a:r>
              <a:t>| P2 | layer 25 | FSNet layer 3 | 32 | 64×160×160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 P2 特徵本來就來自 layer 2 的語意分支。新增 layer 3 提供 FSNet 混合後的另一特徵來源；不能描述成原本完全沒有 P2，或所有 P2 原本都經過多輪 CSAR。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E2. 投影與雙尺度差分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S=\operatorname{Conv}_{1\times1}(S_{raw}),\quad</a:t>
            </a:r>
          </a:p>
          <a:p xmlns:a="http://schemas.openxmlformats.org/drawingml/2006/main">
            <a:r>
              <a:t>\Delta_3=S-\operatorname{Avg}_3(S),\quad</a:t>
            </a:r>
          </a:p>
          <a:p xmlns:a="http://schemas.openxmlformats.org/drawingml/2006/main">
            <a:r>
              <a:t>\Delta_7=S-\operatorname{Avg}_7(S).</a:t>
            </a:r>
          </a:p>
          <a:p xmlns:a="http://schemas.openxmlformats.org/drawingml/2006/main">
            <a:r>
              <a:t>\tag{E1}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1×1 Conv 對齊通道數。S 是經過網路與 BN/SiLU 的特徵，可能含正負數；此處不做 D3 的亮度除法。差分把局部平均成分扣掉，保留局部變化，均勻特徵區則接近零。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它可寫成 `(δ−Bₖ)*S`，δ 為恆等核、Bₖ 為平均核，其直流響應為零，具高通特性。高通也會保留噪聲與規律溝槽，所以還保留完整 S，一併交給後續學習。P2 上 3/7 格約跨 12/28 個輸入像素，P3 約跨 24/56 個輸入像素；這是格距換算，不是包含前面所有卷積的完整感受野。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E3. 拼接、細節重組與門控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U=[S,\Delta_3,\Delta_7],\quad</a:t>
            </a:r>
          </a:p>
          <a:p xmlns:a="http://schemas.openxmlformats.org/drawingml/2006/main">
            <a:r>
              <a:t>D=\operatorname{DWConv}_{3\times3}(\operatorname{Conv}_{1\times1}(U)),</a:t>
            </a:r>
          </a:p>
          <a:p xmlns:a="http://schemas.openxmlformats.org/drawingml/2006/main">
            <a:r>
              <a:t>\tag{E2}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G=\sigma(W_g[F,S]+b_g),\qquad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\tag{E3}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 通道數為 3C，1×1 將三種訊號學習式融合回 C 通道，DWConv 再整合局部空間。**E3 的 gate 使用 F 與 S，不是 F 與 D**，這與入口分支的實作不同。P3、P2 各有自己的融合模組與可學習增益。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兩個融合後的特徵同時送入框、分類、mask coefficients 與 prototype。語意 logits 仍來自原四個語意分支，不另造一組 shadow logits。梯度能沿新增連接返回 FSNet 的淺層特徵，提供較直接的損壞監督路徑。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E4. 對陰影與完整範圍的作用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如果深層特徵偏向較強烈的鏽斑而忽略附近微弱凹損，淺層差異提供另一個機會，使模型在分類與定位前就看到局部形狀。它也可能增加只看局部紋理的誤報，因此原深層 F 保留，gate 根據原／淺層特徵學習取捨。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相較 01 增加 74,948 個參數，相較 00 累積增加 75,910。這是跨層連接與卷積模組的增加，不是更改 confidence 門檻。側向連接結合細節與語意的背景可參考 [FPN](https://arxiv.org/abs/1612.03144)，本次具體路由依上表本地實作。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F. 03-dualproto：保留 P2 尺度，補充完整遮罩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F1. 原型解碼的資訊瓶頸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原路徑 C12 在 P3 80×80 融合，P2 160×160 的訊號會先經 nearest 降採樣，再由原解碼器上採樣。採樣沒選到的細小線索可能流失；03 保留原路並另加一條在 160×160 直接運算的分支。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這個改動**沒有把最終 mask prototype 從 160 改成 320**，也沒有增加偵測尺度。它改變的是 P2 訊息抵達原型的路徑。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F2. P2 細節與 P4 上下文的通道投影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D=\operatorname{Conv}_{1\times1}(F'_{P2}),\quad</a:t>
            </a:r>
          </a:p>
          <a:p xmlns:a="http://schemas.openxmlformats.org/drawingml/2006/main">
            <a:r>
              <a:t>C_0=\operatorname{Conv}_{1\times1}(F_{P4}),\quad</a:t>
            </a:r>
          </a:p>
          <a:p xmlns:a="http://schemas.openxmlformats.org/drawingml/2006/main">
            <a:r>
              <a:t>C=\operatorname{Bilinear}_{160\times160}(C_0).</a:t>
            </a:r>
          </a:p>
          <a:p xmlns:a="http://schemas.openxmlformats.org/drawingml/2006/main">
            <a:r>
              <a:t>\tag{F1}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F′P2 是 02 淺層融合後的特徵，P4 為原語意增強特徵。n 規模下 D、C 都是 64×160×160；P4 投影前為 128×40×40。YAML 的 `npr=256` 經 n 寬度比例後為 64，而最終輸出原型數仍為 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F3. bilinear 的每個權重在做什麼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對映射到來源網格的連續座標 (x,y)，令左上格為 (x₀,y₀)，a=x−x₀，b=y−y₀：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C(x,y)=(1-a)(1-b)C_{00}+a(1-b)C_{10}</a:t>
            </a:r>
          </a:p>
          <a:p xmlns:a="http://schemas.openxmlformats.org/drawingml/2006/main">
            <a:r>
              <a:t>       +(1-a)bC_{01}+abC_{11}.</a:t>
            </a:r>
          </a:p>
          <a:p xmlns:a="http://schemas.openxmlformats.org/drawingml/2006/main">
            <a:r>
              <a:t>\tag{F2}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四個權重非負且相加為 1，以相鄰四格估計中間值。`align_corners=False` 採像素中心的映射，單一方向約為 `x_source=(x_output+0.5)×size_in/size_out−0.5`，邊界依框架處理。它讓低解析度上下文較平順地對齊 P2，但不會產生新的真實細節，細節來源仍是直接的 P2。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F4. context 門控與原型殘差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G=\sigma(W_g[D,C]+b_g),\quad</a:t>
            </a:r>
          </a:p>
          <a:p xmlns:a="http://schemas.openxmlformats.org/drawingml/2006/main">
            <a:r>
              <a:t>H=\operatorname{DWConv}_{3\times3}(D+C),\quad</a:t>
            </a:r>
          </a:p>
          <a:p xmlns:a="http://schemas.openxmlformats.org/drawingml/2006/main">
            <a:r>
              <a:t>\Delta P=W_oH+b_o,</a:t>
            </a:r>
          </a:p>
          <a:p xmlns:a="http://schemas.openxmlformats.org/drawingml/2006/main">
            <a:r>
              <a:t>\tag{F3}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P'=P_{old}+\tanh(\beta)G\odot\Delta P.</a:t>
            </a:r>
          </a:p>
          <a:p xmlns:a="http://schemas.openxmlformats.org/drawingml/2006/main">
            <a:r>
              <a:t>\tag{F4}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D+C 讓每個高解析度位置同時接觸細節與較大範圍的語意。Wₒ 是 1×1 線性 Conv2d，將 64 通道變成 32 張原型殘差；它沒有額外 sigmoid，所以 ΔP 可正可負。G 為單通道空間 gate，廣播到 32 個原型，β 初始 0.1。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門控初始為常數 0.5，需訓練後才會形成內容相關的取捨。較大範圍上下文有機會抑制單一溝槽或純陰影邊界，但沒有「看到鏽蝕才允許凹損」的硬規則。上下文與定位結合的背景可參考 [U-Net](https://arxiv.org/abs/1505.04597)，本模型仍使用 YOLO 的原型與實例係數機制。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F5. 新分支如何影響實例與得到梯度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z_i=\sum_kc_{ik}P'_k</a:t>
            </a:r>
          </a:p>
          <a:p xmlns:a="http://schemas.openxmlformats.org/drawingml/2006/main">
            <a:r>
              <a:t>   =\sum_kc_{ik}P_{old,k}</a:t>
            </a:r>
          </a:p>
          <a:p xmlns:a="http://schemas.openxmlformats.org/drawingml/2006/main">
            <a:r>
              <a:t>    +\tanh(\beta)G\sum_kc_{ik}\Delta P_k,</a:t>
            </a:r>
          </a:p>
          <a:p xmlns:a="http://schemas.openxmlformats.org/drawingml/2006/main">
            <a:r>
              <a:t>\qquad p_i=\sigma(z_i).</a:t>
            </a:r>
          </a:p>
          <a:p xmlns:a="http://schemas.openxmlformats.org/drawingml/2006/main">
            <a:r>
              <a:t>\tag{F5}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新分支對每個實例的修正還依賴該實例自己的係數 cᵢ，因此不會把同一個固定區域貼給所有凹損。對單一像素 BCE，`∂ℓ/∂zᵢ=pᵢ−yᵢ`，固定其餘依賴時：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\frac{\partial\ell}{\partial\Delta P_k}</a:t>
            </a:r>
          </a:p>
          <a:p xmlns:a="http://schemas.openxmlformats.org/drawingml/2006/main">
            <a:r>
              <a:t> =(p_i-y_i)c_{ik}\tanh(\beta)G.</a:t>
            </a:r>
          </a:p>
          <a:p xmlns:a="http://schemas.openxmlformats.org/drawingml/2006/main">
            <a:r>
              <a:t>\tag{F6}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若漏掉真實損壞，p−y 為負，但 cᵢₖ 可正可負，因此不能直接說「每張原型都會變大」。訓練是共同更新原型、係數與特徵，使最終組合更符合 GT。若不小心把正常背景也標為損壞，同樣的梯度會教模型擴到錯誤區域。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 相較 02 增加 15,458 個參數，相較 00 累積增加 91,368。原生 P2 分支在較大特徵圖上運算，增加的時間與顯存需要實測，不能只從 +1.45% 參數推算。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**03 的作用邊界：**優先補充分割範圍，並不直接新增一組偵測框或類別分數。共享特徵的訓練可能間接影響偵測，但一個完全沒有正樣本配對的凹損，不能只靠新 prototype 分支保證找回。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01-luma：從輸入保留陰影中的相對明暗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D1. 亮度近似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Y=0.299R+0.587G+0.114B.</a:t>
            </a:r>
          </a:p>
          <a:p xmlns:a="http://schemas.openxmlformats.org/drawingml/2006/main">
            <a:r>
              <a:t>\tag{D1}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三通道收斂為一張無色彩明暗圖，綠色通道權重較大。此處直接作用於輸入 RGB，沒有額外做線性光反伽瑪校正，因此更精確的說法是灰階／luma 近似，不是物理光度量。保留原 RGB 主路也很重要：鏽蝕顏色仍由原路處理，不會只剩灰階。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D2. 局部平均與邊界處理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\mu_k(u,v)=\frac1{k^2}\sum_{(r,t)\in\Omega_k}Y(u+r,v+t),</a:t>
            </a:r>
          </a:p>
          <a:p xmlns:a="http://schemas.openxmlformats.org/drawingml/2006/main">
            <a:r>
              <a:t>\qquad k\in\{5,15\}.</a:t>
            </a:r>
          </a:p>
          <a:p xmlns:a="http://schemas.openxmlformats.org/drawingml/2006/main">
            <a:r>
              <a:t>\tag{D2}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5×5 表達較近鄰的背景，15×15 表達較大範圍的背景，兩者皆在原網路輸入尺寸計算。圖邊使用 replicate padding，把邊界值延伸出去；因此均勻亮面或均勻暗面不會因補零而多出假的邊緣。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D3. 有號相對對比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q_k=\frac{Y-\mu_k}{\mu_k+\epsilon},\quad</a:t>
            </a:r>
          </a:p>
          <a:p xmlns:a="http://schemas.openxmlformats.org/drawingml/2006/main">
            <a:r>
              <a:t>C_k=\tanh(q_k),\qquad\epsilon=1/255.</a:t>
            </a:r>
          </a:p>
          <a:p xmlns:a="http://schemas.openxmlformats.org/drawingml/2006/main">
            <a:r>
              <a:t>\tag{D3}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分子衡量比周圍亮或暗多少；保留正負號可區分亮側與暗側。分母把絕對差轉成相對周圍亮度的差，ε 避免除以零，tanh 限制極端值。ε 是加在分母中的穩定項，不是 `max(μ,ε)`，兩者運算不同。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若局部影像同時乘上 a，則：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q'_k=\frac{a(Y-\mu_k)}{a\mu_k+\epsilon}</a:t>
            </a:r>
          </a:p>
          <a:p xmlns:a="http://schemas.openxmlformats.org/drawingml/2006/main">
            <a:r>
              <a:t>     =\frac{Y-\mu_k}{\mu_k+\epsilon/a}.</a:t>
            </a:r>
          </a:p>
          <a:p xmlns:a="http://schemas.openxmlformats.org/drawingml/2006/main">
            <a:r>
              <a:t>\tag{D4}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 μ 遠大於 ε/a，q′ 接近 q，表示均勻變暗後相對對比可能較穩定。當環境非常暗，ε/a 變大、相對訊號會縮小；這是抑制極暗噪聲的代價。若陰影邊界穿過 5×5／15×15 區域，a 在區域內不一致，以上近似不成立，純陰影邊界仍會產生高對比。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若衰減係數 a 隨位置變化，連續近似的乘積微分為：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\nabla(aY)=a\nabla Y+Y\nabla a.</a:t>
            </a:r>
          </a:p>
          <a:p xmlns:a="http://schemas.openxmlformats.org/drawingml/2006/main">
            <a:r>
              <a:t>\tag{D4b}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第一項含原表面的明暗變化，第二項來自照明變化。即使表面沒有凹損，只要陰影邊界讓 ∇a 不為零，也會有梯度。因此 Sobel 或高通響應只是候選線索，後續上下文、正確標記與純陰影負例才決定是否當作損壞。這是分析用的連續近似，實際程式使用下節的離散濾波核。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示意：原 Y=0.20、μ=0.24，變暗為四分之一後 Y′=0.05、μ′=0.06。絕對差由 −0.04 變成 −0.01，經 D3 的相對對比分別約 −0.163 與 −0.155。這僅說明算子的數值行為，沒有證明這個區域是凹損。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D4. 水平／垂直梯度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K_x=\frac18\begin{bmatrix}-1&amp;0&amp;1\\-2&amp;0&amp;2\\-1&amp;0&amp;1\end{bmatrix},</a:t>
            </a:r>
          </a:p>
          <a:p xmlns:a="http://schemas.openxmlformats.org/drawingml/2006/main">
            <a:r>
              <a:t>\qquad K_y=\frac18\begin{bmatrix}-1&amp;-2&amp;-1\\0&amp;0&amp;0\\1&amp;2&amp;1\end{bmatrix},</a:t>
            </a:r>
          </a:p>
          <a:p xmlns:a="http://schemas.openxmlformats.org/drawingml/2006/main">
            <a:r>
              <a:t>\tag{D5}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g_x=K_x*Y,\quad g_y=K_y*Y,\quad</a:t>
            </a:r>
          </a:p>
          <a:p xmlns:a="http://schemas.openxmlformats.org/drawingml/2006/main">
            <a:r>
              <a:t>G_x=\tanh\!\left(\frac{g_x}{\mu_5+\epsilon}\right),\quad</a:t>
            </a:r>
          </a:p>
          <a:p xmlns:a="http://schemas.openxmlformats.org/drawingml/2006/main">
            <a:r>
              <a:t>G_y=\tanh\!\left(\frac{g_y}{\mu_5+\epsilon}\right).</a:t>
            </a:r>
          </a:p>
          <a:p xmlns:a="http://schemas.openxmlformats.org/drawingml/2006/main">
            <a:r>
              <a:t>\tag{D6}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 * 表示程式的空間濾波運算。Sobel 類核對一方向求差，同時在另一方向平滑；1/8 控制響應尺度。保留有號 x/y 梯度，可以描述凹損附近明暗轉折的方向，並未合成梯度大小或推算深度。貨櫃溝槽與投影陰影同樣有方向梯度，需由後續上下文與標記判別。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D5. 五通道細節與 RGB 主路融合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E=[Y,C_5,C_{15},G_x,G_y],\quad</a:t>
            </a:r>
          </a:p>
          <a:p xmlns:a="http://schemas.openxmlformats.org/drawingml/2006/main">
            <a:r>
              <a:t>D=\operatorname{DWConv}_{3\times3}(\operatorname{Conv}_{3\times3,s=2}(E)),</a:t>
            </a:r>
          </a:p>
          <a:p xmlns:a="http://schemas.openxmlformats.org/drawingml/2006/main">
            <a:r>
              <a:t>\tag{D7}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F=\operatorname{Conv}_{3\times3,s=2}(I),\quad</a:t>
            </a:r>
          </a:p>
          <a:p xmlns:a="http://schemas.openxmlformats.org/drawingml/2006/main">
            <a:r>
              <a:t>G=\sigma(W_g[F,D]+b_g),\quad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\tag{D8}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規模下 F、D 均為 16×320×320，G 為 1×320×320，對所有通道共用同位置的門控。Wg 是 1×1 卷積，能根據原特徵與細節學習位置選擇。D8 與 B7 一起說明新分支如何獲得梯度，原 Conv 的同名權重仍可載入。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局部統計與濾波在 FP32 計算後轉回輸入 dtype，降低黑暗處除法在低精度中的數值風險。這是實作的數值處理，不會增加額外影像資訊。alpha 學習後也可為負，旁路因此可修正或抵消某些訊號。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**01 的影響：**讓低亮度區的相對變化更明確地進入主幹，僅增加 962 個可學習參數。可能同時放大暗處噪聲、陰影界線及板面溝槽；固定局部平均等運算不算入參數量，但仍消耗時間。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E. 02-shallow：讓局部形狀直接到達預測頭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E1. 原路與新增路的精確位置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繼承 01，head 從八個輸入增至十個。每一個新增融合只處理同解析度的兩個特徵：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融合尺度 | 原 head 特徵 | 新增淺層來源 | n 規模來源通道 | 融合後通道與尺寸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P3 | layer 22 | FSNet layer 6 | 64 | 128×80×80 |</a:t>
            </a:r>
          </a:p>
          <a:p xmlns:a="http://schemas.openxmlformats.org/drawingml/2006/main">
            <a:r>
              <a:t>| P2 | layer 25 | FSNet layer 3 | 32 | 64×160×160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 P2 特徵本來就來自 layer 2 的語意分支。新增 layer 3 提供 FSNet 混合後的另一特徵來源；不能描述成原本完全沒有 P2，或所有 P2 原本都經過多輪 CSAR。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E2. 投影與雙尺度差分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S=\operatorname{Conv}_{1\times1}(S_{raw}),\quad</a:t>
            </a:r>
          </a:p>
          <a:p xmlns:a="http://schemas.openxmlformats.org/drawingml/2006/main">
            <a:r>
              <a:t>\Delta_3=S-\operatorname{Avg}_3(S),\quad</a:t>
            </a:r>
          </a:p>
          <a:p xmlns:a="http://schemas.openxmlformats.org/drawingml/2006/main">
            <a:r>
              <a:t>\Delta_7=S-\operatorname{Avg}_7(S).</a:t>
            </a:r>
          </a:p>
          <a:p xmlns:a="http://schemas.openxmlformats.org/drawingml/2006/main">
            <a:r>
              <a:t>\tag{E1}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1×1 Conv 對齊通道數。S 是經過網路與 BN/SiLU 的特徵，可能含正負數；此處不做 D3 的亮度除法。差分把局部平均成分扣掉，保留局部變化，均勻特徵區則接近零。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它可寫成 `(δ−Bₖ)*S`，δ 為恆等核、Bₖ 為平均核，其直流響應為零，具高通特性。高通也會保留噪聲與規律溝槽，所以還保留完整 S，一併交給後續學習。P2 上 3/7 格約跨 12/28 個輸入像素，P3 約跨 24/56 個輸入像素；這是格距換算，不是包含前面所有卷積的完整感受野。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E3. 拼接、細節重組與門控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U=[S,\Delta_3,\Delta_7],\quad</a:t>
            </a:r>
          </a:p>
          <a:p xmlns:a="http://schemas.openxmlformats.org/drawingml/2006/main">
            <a:r>
              <a:t>D=\operatorname{DWConv}_{3\times3}(\operatorname{Conv}_{1\times1}(U)),</a:t>
            </a:r>
          </a:p>
          <a:p xmlns:a="http://schemas.openxmlformats.org/drawingml/2006/main">
            <a:r>
              <a:t>\tag{E2}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G=\sigma(W_g[F,S]+b_g),\qquad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\tag{E3}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 通道數為 3C，1×1 將三種訊號學習式融合回 C 通道，DWConv 再整合局部空間。**E3 的 gate 使用 F 與 S，不是 F 與 D**，這與入口分支的實作不同。P3、P2 各有自己的融合模組與可學習增益。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兩個融合後的特徵同時送入框、分類、mask coefficients 與 prototype。語意 logits 仍來自原四個語意分支，不另造一組 shadow logits。梯度能沿新增連接返回 FSNet 的淺層特徵，提供較直接的損壞監督路徑。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E4. 對陰影與完整範圍的作用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如果深層特徵偏向較強烈的鏽斑而忽略附近微弱凹損，淺層差異提供另一個機會，使模型在分類與定位前就看到局部形狀。它也可能增加只看局部紋理的誤報，因此原深層 F 保留，gate 根據原／淺層特徵學習取捨。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相較 01 增加 74,948 個參數，相較 00 累積增加 75,910。這是跨層連接與卷積模組的增加，不是更改 confidence 門檻。側向連接結合細節與語意的背景可參考 [FPN](https://arxiv.org/abs/1612.03144)，本次具體路由依上表本地實作。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F. 03-dualproto：保留 P2 尺度，補充完整遮罩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F1. 原型解碼的資訊瓶頸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原路徑 C12 在 P3 80×80 融合，P2 160×160 的訊號會先經 nearest 降採樣，再由原解碼器上採樣。採樣沒選到的細小線索可能流失；03 保留原路並另加一條在 160×160 直接運算的分支。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這個改動**沒有把最終 mask prototype 從 160 改成 320**，也沒有增加偵測尺度。它改變的是 P2 訊息抵達原型的路徑。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F2. P2 細節與 P4 上下文的通道投影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D=\operatorname{Conv}_{1\times1}(F'_{P2}),\quad</a:t>
            </a:r>
          </a:p>
          <a:p xmlns:a="http://schemas.openxmlformats.org/drawingml/2006/main">
            <a:r>
              <a:t>C_0=\operatorname{Conv}_{1\times1}(F_{P4}),\quad</a:t>
            </a:r>
          </a:p>
          <a:p xmlns:a="http://schemas.openxmlformats.org/drawingml/2006/main">
            <a:r>
              <a:t>C=\operatorname{Bilinear}_{160\times160}(C_0).</a:t>
            </a:r>
          </a:p>
          <a:p xmlns:a="http://schemas.openxmlformats.org/drawingml/2006/main">
            <a:r>
              <a:t>\tag{F1}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F′P2 是 02 淺層融合後的特徵，P4 為原語意增強特徵。n 規模下 D、C 都是 64×160×160；P4 投影前為 128×40×40。YAML 的 `npr=256` 經 n 寬度比例後為 64，而最終輸出原型數仍為 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F3. bilinear 的每個權重在做什麼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對映射到來源網格的連續座標 (x,y)，令左上格為 (x₀,y₀)，a=x−x₀，b=y−y₀：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C(x,y)=(1-a)(1-b)C_{00}+a(1-b)C_{10}</a:t>
            </a:r>
          </a:p>
          <a:p xmlns:a="http://schemas.openxmlformats.org/drawingml/2006/main">
            <a:r>
              <a:t>       +(1-a)bC_{01}+abC_{11}.</a:t>
            </a:r>
          </a:p>
          <a:p xmlns:a="http://schemas.openxmlformats.org/drawingml/2006/main">
            <a:r>
              <a:t>\tag{F2}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四個權重非負且相加為 1，以相鄰四格估計中間值。`align_corners=False` 採像素中心的映射，單一方向約為 `x_source=(x_output+0.5)×size_in/size_out−0.5`，邊界依框架處理。它讓低解析度上下文較平順地對齊 P2，但不會產生新的真實細節，細節來源仍是直接的 P2。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F4. context 門控與原型殘差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G=\sigma(W_g[D,C]+b_g),\quad</a:t>
            </a:r>
          </a:p>
          <a:p xmlns:a="http://schemas.openxmlformats.org/drawingml/2006/main">
            <a:r>
              <a:t>H=\operatorname{DWConv}_{3\times3}(D+C),\quad</a:t>
            </a:r>
          </a:p>
          <a:p xmlns:a="http://schemas.openxmlformats.org/drawingml/2006/main">
            <a:r>
              <a:t>\Delta P=W_oH+b_o,</a:t>
            </a:r>
          </a:p>
          <a:p xmlns:a="http://schemas.openxmlformats.org/drawingml/2006/main">
            <a:r>
              <a:t>\tag{F3}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P'=P_{old}+\tanh(\beta)G\odot\Delta P.</a:t>
            </a:r>
          </a:p>
          <a:p xmlns:a="http://schemas.openxmlformats.org/drawingml/2006/main">
            <a:r>
              <a:t>\tag{F4}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D+C 讓每個高解析度位置同時接觸細節與較大範圍的語意。Wₒ 是 1×1 線性 Conv2d，將 64 通道變成 32 張原型殘差；它沒有額外 sigmoid，所以 ΔP 可正可負。G 為單通道空間 gate，廣播到 32 個原型，β 初始 0.1。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門控初始為常數 0.5，需訓練後才會形成內容相關的取捨。較大範圍上下文有機會抑制單一溝槽或純陰影邊界，但沒有「看到鏽蝕才允許凹損」的硬規則。上下文與定位結合的背景可參考 [U-Net](https://arxiv.org/abs/1505.04597)，本模型仍使用 YOLO 的原型與實例係數機制。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F5. 新分支如何影響實例與得到梯度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z_i=\sum_kc_{ik}P'_k</a:t>
            </a:r>
          </a:p>
          <a:p xmlns:a="http://schemas.openxmlformats.org/drawingml/2006/main">
            <a:r>
              <a:t>   =\sum_kc_{ik}P_{old,k}</a:t>
            </a:r>
          </a:p>
          <a:p xmlns:a="http://schemas.openxmlformats.org/drawingml/2006/main">
            <a:r>
              <a:t>    +\tanh(\beta)G\sum_kc_{ik}\Delta P_k,</a:t>
            </a:r>
          </a:p>
          <a:p xmlns:a="http://schemas.openxmlformats.org/drawingml/2006/main">
            <a:r>
              <a:t>\qquad p_i=\sigma(z_i).</a:t>
            </a:r>
          </a:p>
          <a:p xmlns:a="http://schemas.openxmlformats.org/drawingml/2006/main">
            <a:r>
              <a:t>\tag{F5}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新分支對每個實例的修正還依賴該實例自己的係數 cᵢ，因此不會把同一個固定區域貼給所有凹損。對單一像素 BCE，`∂ℓ/∂zᵢ=pᵢ−yᵢ`，固定其餘依賴時：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\frac{\partial\ell}{\partial\Delta P_k}</a:t>
            </a:r>
          </a:p>
          <a:p xmlns:a="http://schemas.openxmlformats.org/drawingml/2006/main">
            <a:r>
              <a:t> =(p_i-y_i)c_{ik}\tanh(\beta)G.</a:t>
            </a:r>
          </a:p>
          <a:p xmlns:a="http://schemas.openxmlformats.org/drawingml/2006/main">
            <a:r>
              <a:t>\tag{F6}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若漏掉真實損壞，p−y 為負，但 cᵢₖ 可正可負，因此不能直接說「每張原型都會變大」。訓練是共同更新原型、係數與特徵，使最終組合更符合 GT。若不小心把正常背景也標為損壞，同樣的梯度會教模型擴到錯誤區域。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 相較 02 增加 15,458 個參數，相較 00 累積增加 91,368。原生 P2 分支在較大特徵圖上運算，增加的時間與顯存需要實測，不能只從 +1.45% 參數推算。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**03 的作用邊界：**優先補充分割範圍，並不直接新增一組偵測框或類別分數。共享特徵的訓練可能間接影響偵測，但一個完全沒有正樣本配對的凹損，不能只靠新 prototype 分支保證找回。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625e097c74d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a4d9d59cf44e9" /><Relationship Type="http://schemas.openxmlformats.org/officeDocument/2006/relationships/slideLayout" Target="/ppt/slideLayouts/slideLayout1.xml" Id="Re8818e02c06340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18e02c06340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9acf1760c4380" /><Relationship Type="http://schemas.openxmlformats.org/officeDocument/2006/relationships/notesSlide" Target="/ppt/notesSlides/notesSlide1.xml" Id="Rffd9f23c2e69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7489ca0940f7" /><Relationship Type="http://schemas.openxmlformats.org/officeDocument/2006/relationships/notesSlide" Target="/ppt/notesSlides/notesSlide2.xml" Id="R8ba9d363c0a745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110174A6-A806-42E5-823F-47F2E07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03 原生 P2 的雙路遮罩解碼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CC465B-9D5A-4B29-B927-7F7309A0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繼承 02，保留原解碼器並加入直接處理 P2 的旁路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418F42EC-C0A1-4614-80A6-12630D01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03 相較 02 新增 15,458 個參數。最終原型仍為 32×160×160，沒有新增偵測尺度。</a:t>
            </a:r>
          </a:p>
        </p:txBody>
      </p:sp>
      <p:sp>
        <p:nvSpPr>
          <p:cNvPr id="4" name="decoder-heading">
            <a:extLst xmlns:a="http://schemas.openxmlformats.org/drawingml/2006/main">
              <a:ext uri="{FF2B5EF4-FFF2-40B4-BE49-F238E27FC236}">
                <a16:creationId xmlns:a16="http://schemas.microsoft.com/office/drawing/2014/main" id="{719E124D-1669-4C0C-82C1-473D36AF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591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同一輸出解析度，兩種資訊路徑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90550" y="2219325"/>
          <a:ext xmlns:a="http://schemas.openxmlformats.org/drawingml/2006/main" cx="5553075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1100"/>
                <a:gridCol w="4371975"/>
              </a:tblGrid>
              <a:tr h="628650">
                <a:tc>
                  <a:txBody>
                    <a:bodyPr/>
                    <a:lstStyle/>
                    <a:p>
                      <a:r>
                        <a:rPr sz="183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路徑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主要過程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38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8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P3 80² 融合，再放大至 160²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38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新增路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8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P2 160² 直接投影與局部運算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bottleneck-note">
            <a:extLst xmlns:a="http://schemas.openxmlformats.org/drawingml/2006/main">
              <a:ext uri="{FF2B5EF4-FFF2-40B4-BE49-F238E27FC236}">
                <a16:creationId xmlns:a16="http://schemas.microsoft.com/office/drawing/2014/main" id="{8A92B6A9-F74B-4ACB-9C7B-2BFD44F8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55530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原路徑中的 P2 會先縮小至 P3。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新旁路讓 P2 細節保有原生網格，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再與原 prototype 殘差相加。</a:t>
            </a:r>
          </a:p>
        </p:txBody>
      </p:sp>
      <p:sp>
        <p:nvSpPr>
          <p:cNvPr id="7" name="context-heading">
            <a:extLst xmlns:a="http://schemas.openxmlformats.org/drawingml/2006/main">
              <a:ext uri="{FF2B5EF4-FFF2-40B4-BE49-F238E27FC236}">
                <a16:creationId xmlns:a16="http://schemas.microsoft.com/office/drawing/2014/main" id="{C0D22D43-8B54-4387-8228-31B97F96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24025"/>
            <a:ext cx="497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P2 細節與 P4 上下文</a:t>
            </a:r>
          </a:p>
        </p:txBody>
      </p:sp>
      <p:sp>
        <p:nvSpPr>
          <p:cNvPr id="8" name="native-p2">
            <a:extLst xmlns:a="http://schemas.openxmlformats.org/drawingml/2006/main">
              <a:ext uri="{FF2B5EF4-FFF2-40B4-BE49-F238E27FC236}">
                <a16:creationId xmlns:a16="http://schemas.microsoft.com/office/drawing/2014/main" id="{454C6694-E6C7-4D7A-AB65-53485D4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1932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D = Conv₁×₁(F′P2)</a:t>
            </a:r>
          </a:p>
        </p:txBody>
      </p:sp>
      <p:sp>
        <p:nvSpPr>
          <p:cNvPr id="9" name="native-p4">
            <a:extLst xmlns:a="http://schemas.openxmlformats.org/drawingml/2006/main">
              <a:ext uri="{FF2B5EF4-FFF2-40B4-BE49-F238E27FC236}">
                <a16:creationId xmlns:a16="http://schemas.microsoft.com/office/drawing/2014/main" id="{A29EB314-86FB-401C-A0D1-54958237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C₀ = Conv₁×₁(FP4)</a:t>
            </a:r>
          </a:p>
        </p:txBody>
      </p:sp>
      <p:sp>
        <p:nvSpPr>
          <p:cNvPr id="10" name="resize-context">
            <a:extLst xmlns:a="http://schemas.openxmlformats.org/drawingml/2006/main">
              <a:ext uri="{FF2B5EF4-FFF2-40B4-BE49-F238E27FC236}">
                <a16:creationId xmlns:a16="http://schemas.microsoft.com/office/drawing/2014/main" id="{19720132-78BC-4A9A-B51E-D418AAF2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337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C = Bilinear₁₆₀×₁₆₀(C₀)</a:t>
            </a:r>
          </a:p>
        </p:txBody>
      </p:sp>
      <p:sp>
        <p:nvSpPr>
          <p:cNvPr id="11" name="native-shapes">
            <a:extLst xmlns:a="http://schemas.openxmlformats.org/drawingml/2006/main">
              <a:ext uri="{FF2B5EF4-FFF2-40B4-BE49-F238E27FC236}">
                <a16:creationId xmlns:a16="http://schemas.microsoft.com/office/drawing/2014/main" id="{867F0F23-4528-4E79-A08F-7AD41A22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4972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n 規模的 D、C 皆為 64×160×160。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P4 原始尺寸是 128×40×40。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Bilinear 對齊上下文，不創造真實細節。</a:t>
            </a:r>
          </a:p>
        </p:txBody>
      </p:sp>
      <p:sp>
        <p:nvSpPr>
          <p:cNvPr id="12" name="native-meaning">
            <a:extLst xmlns:a="http://schemas.openxmlformats.org/drawingml/2006/main">
              <a:ext uri="{FF2B5EF4-FFF2-40B4-BE49-F238E27FC236}">
                <a16:creationId xmlns:a16="http://schemas.microsoft.com/office/drawing/2014/main" id="{E1AC335D-34A7-42EF-A688-1B5C64BB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細節來自直接的 P2。較大範圍的 P4 context 提供另一種判讀依據。</a:t>
            </a:r>
          </a:p>
        </p:txBody>
      </p:sp>
    </p:spTree>
    <p:extLst>
      <p:ext uri="{BB962C8B-B14F-4D97-AF65-F5344CB8AC3E}">
        <p14:creationId xmlns:p14="http://schemas.microsoft.com/office/powerpoint/2010/main" val="824662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0071FC66-156B-4B9E-93D9-B26F64D8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03 原型殘差與完整凹損範圍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1550FA-AC31-46D7-8653-AF41BD57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新增分支經最終實例 mask loss 學習，保留原型與係數的組合方式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741DCBA-50D7-4924-AC48-9391521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完整版相較基準新增約 1.45% 參數。尚未重訓，沒有準確率或 FPS 改善數據。</a:t>
            </a:r>
          </a:p>
        </p:txBody>
      </p:sp>
      <p:sp>
        <p:nvSpPr>
          <p:cNvPr id="4" name="proto-heading">
            <a:extLst xmlns:a="http://schemas.openxmlformats.org/drawingml/2006/main">
              <a:ext uri="{FF2B5EF4-FFF2-40B4-BE49-F238E27FC236}">
                <a16:creationId xmlns:a16="http://schemas.microsoft.com/office/drawing/2014/main" id="{84980616-1F36-46A2-A212-6A433268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553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門控及可正可負的原型修正</a:t>
            </a:r>
          </a:p>
        </p:txBody>
      </p:sp>
      <p:sp>
        <p:nvSpPr>
          <p:cNvPr id="5" name="proto-gate">
            <a:extLst xmlns:a="http://schemas.openxmlformats.org/drawingml/2006/main">
              <a:ext uri="{FF2B5EF4-FFF2-40B4-BE49-F238E27FC236}">
                <a16:creationId xmlns:a16="http://schemas.microsoft.com/office/drawing/2014/main" id="{3079B3E3-E13E-4C2C-9CE5-654462AE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G = σ(Wg[D,C] + b)</a:t>
            </a:r>
          </a:p>
        </p:txBody>
      </p:sp>
      <p:sp>
        <p:nvSpPr>
          <p:cNvPr id="6" name="proto-delta">
            <a:extLst xmlns:a="http://schemas.openxmlformats.org/drawingml/2006/main">
              <a:ext uri="{FF2B5EF4-FFF2-40B4-BE49-F238E27FC236}">
                <a16:creationId xmlns:a16="http://schemas.microsoft.com/office/drawing/2014/main" id="{EF95665B-49EE-451C-9D53-B09E427D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ΔP = Wo DWConv(D+C) + bo</a:t>
            </a:r>
          </a:p>
        </p:txBody>
      </p:sp>
      <p:sp>
        <p:nvSpPr>
          <p:cNvPr id="7" name="proto-residual">
            <a:extLst xmlns:a="http://schemas.openxmlformats.org/drawingml/2006/main">
              <a:ext uri="{FF2B5EF4-FFF2-40B4-BE49-F238E27FC236}">
                <a16:creationId xmlns:a16="http://schemas.microsoft.com/office/drawing/2014/main" id="{DF5950D1-FA42-446B-8CA6-136AD63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5553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P′ = Pold + tanh(β) G ⊙ ΔP</a:t>
            </a:r>
          </a:p>
        </p:txBody>
      </p:sp>
      <p:sp>
        <p:nvSpPr>
          <p:cNvPr id="8" name="proto-gate-note">
            <a:extLst xmlns:a="http://schemas.openxmlformats.org/drawingml/2006/main">
              <a:ext uri="{FF2B5EF4-FFF2-40B4-BE49-F238E27FC236}">
                <a16:creationId xmlns:a16="http://schemas.microsoft.com/office/drawing/2014/main" id="{B3DA3F62-CA74-4188-91A1-3EAE9760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55530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G 為單通道 gate，廣播至 32 個原型。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β 初始 0.1，保留原路與新增路的梯度。</a:t>
            </a:r>
          </a:p>
        </p:txBody>
      </p:sp>
      <p:sp>
        <p:nvSpPr>
          <p:cNvPr id="9" name="instance-heading">
            <a:extLst xmlns:a="http://schemas.openxmlformats.org/drawingml/2006/main">
              <a:ext uri="{FF2B5EF4-FFF2-40B4-BE49-F238E27FC236}">
                <a16:creationId xmlns:a16="http://schemas.microsoft.com/office/drawing/2014/main" id="{F8146A68-7DF4-4327-8D8D-B05A2140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24025"/>
            <a:ext cx="4972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不同實例使用不同原型係數</a:t>
            </a:r>
          </a:p>
        </p:txBody>
      </p:sp>
      <p:sp>
        <p:nvSpPr>
          <p:cNvPr id="10" name="instance-formula">
            <a:extLst xmlns:a="http://schemas.openxmlformats.org/drawingml/2006/main">
              <a:ext uri="{FF2B5EF4-FFF2-40B4-BE49-F238E27FC236}">
                <a16:creationId xmlns:a16="http://schemas.microsoft.com/office/drawing/2014/main" id="{B5036836-EF84-441E-A3C8-848A9ED5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zᵢ = Σₖ cᵢₖP′ₖ，pᵢ = σ(zᵢ)</a:t>
            </a:r>
          </a:p>
        </p:txBody>
      </p:sp>
      <p:sp>
        <p:nvSpPr>
          <p:cNvPr id="11" name="bce-derivative">
            <a:extLst xmlns:a="http://schemas.openxmlformats.org/drawingml/2006/main">
              <a:ext uri="{FF2B5EF4-FFF2-40B4-BE49-F238E27FC236}">
                <a16:creationId xmlns:a16="http://schemas.microsoft.com/office/drawing/2014/main" id="{6C8FE61F-9131-467B-BA16-D1EC0A0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098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∂ℓ/∂zᵢ = pᵢ − yᵢ</a:t>
            </a:r>
          </a:p>
        </p:txBody>
      </p:sp>
      <p:sp>
        <p:nvSpPr>
          <p:cNvPr id="12" name="gradient-meaning">
            <a:extLst xmlns:a="http://schemas.openxmlformats.org/drawingml/2006/main">
              <a:ext uri="{FF2B5EF4-FFF2-40B4-BE49-F238E27FC236}">
                <a16:creationId xmlns:a16="http://schemas.microsoft.com/office/drawing/2014/main" id="{8432E6E0-F1CC-46F2-A90E-23AA28CA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19475"/>
            <a:ext cx="4972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真實損壞漏掉時，負梯度推高 logit。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係數 cᵢₖ 可正可負，因此各原型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不必全部變亮，最終組合才是目標。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90550" y="4962525"/>
          <a:ext xmlns:a="http://schemas.openxmlformats.org/drawingml/2006/main" cx="11010900" cy="1228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72400"/>
              </a:tblGrid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可能作用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影響邊界與驗證重點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補充已匹配實例的範圍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完整 polygon 必須正確，避免背景外溢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直接監督 prototype 旁路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無法保證找回完全沒有候選框的凹損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061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2026-09-30T04:40:15.4770000Z</dcterms:created>
  <dcterms:modified xsi:type="dcterms:W3CDTF">2026-09-30T04:40:15.4770000Z</dcterms:modified>
</coreProperties>
</file>