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78e8005ace43e5" /><Relationship Type="http://schemas.openxmlformats.org/officeDocument/2006/relationships/extended-properties" Target="/docProps/app.xml" Id="R831e9e4e668e4fb5" /><Relationship Type="http://schemas.openxmlformats.org/officeDocument/2006/relationships/officeDocument" Target="/ppt/presentation.xml" Id="Rf746c7051cd1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76656c4184201"/>
  </p:sldMasterIdLst>
  <p:notesMasterIdLst>
    <p:notesMasterId xmlns:r="http://schemas.openxmlformats.org/officeDocument/2006/relationships" r:id="R8cf427bea26646d6"/>
  </p:notesMasterIdLst>
  <p:sldIdLst>
    <p:sldId xmlns:r="http://schemas.openxmlformats.org/officeDocument/2006/relationships" id="256" r:id="R3b591a53c8c44892"/>
    <p:sldId xmlns:r="http://schemas.openxmlformats.org/officeDocument/2006/relationships" id="257" r:id="Rdbce1577617140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4715bb42c349ba" /><Relationship Type="http://schemas.openxmlformats.org/officeDocument/2006/relationships/slideMaster" Target="/ppt/slideMasters/slideMaster1.xml" Id="R82a76656c4184201" /><Relationship Type="http://schemas.openxmlformats.org/officeDocument/2006/relationships/notesMaster" Target="/ppt/notesMasters/notesMaster1.xml" Id="R8cf427bea26646d6" /><Relationship Type="http://schemas.openxmlformats.org/officeDocument/2006/relationships/presProps" Target="/ppt/presProps.xml" Id="R048eac8955a942eb" /><Relationship Type="http://schemas.openxmlformats.org/officeDocument/2006/relationships/tableStyles" Target="/ppt/tableStyles.xml" Id="R605d1085471a4384" /><Relationship Type="http://schemas.openxmlformats.org/officeDocument/2006/relationships/slide" Target="/ppt/slides/slide1.xml" Id="R3b591a53c8c44892" /><Relationship Type="http://schemas.openxmlformats.org/officeDocument/2006/relationships/slide" Target="/ppt/slides/slide2.xml" Id="Rdbce15776171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50b019033e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733dade714320" /><Relationship Type="http://schemas.openxmlformats.org/officeDocument/2006/relationships/notesMaster" Target="/ppt/notesMasters/notesMaster1.xml" Id="Rd2ef8282f0c0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c194db518d478b" /><Relationship Type="http://schemas.openxmlformats.org/officeDocument/2006/relationships/notesMaster" Target="/ppt/notesMasters/notesMaster1.xml" Id="R983894a40743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02-shallow：讓局部形狀直接到達預測頭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E1. 原路與新增路的精確位置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繼承 01，head 從八個輸入增至十個。每一個新增融合只處理同解析度的兩個特徵：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融合尺度 | 原 head 特徵 | 新增淺層來源 | n 規模來源通道 | 融合後通道與尺寸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P3 | layer 22 | FSNet layer 6 | 64 | 128×80×80 |</a:t>
            </a:r>
          </a:p>
          <a:p xmlns:a="http://schemas.openxmlformats.org/drawingml/2006/main">
            <a:r>
              <a:t>| P2 | layer 25 | FSNet layer 3 | 32 | 64×160×160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 P2 特徵本來就來自 layer 2 的語意分支。新增 layer 3 提供 FSNet 混合後的另一特徵來源；不能描述成原本完全沒有 P2，或所有 P2 原本都經過多輪 CSAR。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E2. 投影與雙尺度差分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S=\operatorname{Conv}_{1\times1}(S_{raw}),\quad</a:t>
            </a:r>
          </a:p>
          <a:p xmlns:a="http://schemas.openxmlformats.org/drawingml/2006/main">
            <a:r>
              <a:t>\Delta_3=S-\operatorname{Avg}_3(S),\quad</a:t>
            </a:r>
          </a:p>
          <a:p xmlns:a="http://schemas.openxmlformats.org/drawingml/2006/main">
            <a:r>
              <a:t>\Delta_7=S-\operatorname{Avg}_7(S).</a:t>
            </a:r>
          </a:p>
          <a:p xmlns:a="http://schemas.openxmlformats.org/drawingml/2006/main">
            <a:r>
              <a:t>\tag{E1}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Conv 對齊通道數。S 是經過網路與 BN/SiLU 的特徵，可能含正負數；此處不做 D3 的亮度除法。差分把局部平均成分扣掉，保留局部變化，均勻特徵區則接近零。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它可寫成 `(δ−Bₖ)*S`，δ 為恆等核、Bₖ 為平均核，其直流響應為零，具高通特性。高通也會保留噪聲與規律溝槽，所以還保留完整 S，一併交給後續學習。P2 上 3/7 格約跨 12/28 個輸入像素，P3 約跨 24/56 個輸入像素；這是格距換算，不是包含前面所有卷積的完整感受野。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E3. 拼接、細節重組與門控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U=[S,\Delta_3,\Delta_7],\quad</a:t>
            </a:r>
          </a:p>
          <a:p xmlns:a="http://schemas.openxmlformats.org/drawingml/2006/main">
            <a:r>
              <a:t>D=\operatorname{DWConv}_{3\times3}(\operatorname{Conv}_{1\times1}(U)),</a:t>
            </a:r>
          </a:p>
          <a:p xmlns:a="http://schemas.openxmlformats.org/drawingml/2006/main">
            <a:r>
              <a:t>\tag{E2}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G=\sigma(W_g[F,S]+b_g),\qquad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\tag{E3}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 通道數為 3C，1×1 將三種訊號學習式融合回 C 通道，DWConv 再整合局部空間。**E3 的 gate 使用 F 與 S，不是 F 與 D**，這與入口分支的實作不同。P3、P2 各有自己的融合模組與可學習增益。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兩個融合後的特徵同時送入框、分類、mask coefficients 與 prototype。語意 logits 仍來自原四個語意分支，不另造一組 shadow logits。梯度能沿新增連接返回 FSNet 的淺層特徵，提供較直接的損壞監督路徑。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E4. 對陰影與完整範圍的作用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如果深層特徵偏向較強烈的鏽斑而忽略附近微弱凹損，淺層差異提供另一個機會，使模型在分類與定位前就看到局部形狀。它也可能增加只看局部紋理的誤報，因此原深層 F 保留，gate 根據原／淺層特徵學習取捨。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相較 01 增加 74,948 個參數，相較 00 累積增加 75,910。這是跨層連接與卷積模組的增加，不是更改 confidence 門檻。側向連接結合細節與語意的背景可參考 [FPN](https://arxiv.org/abs/1612.03144)，本次具體路由依上表本地實作。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A. 四個版本與符號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版本 | 局部架構改動 | n 規模、八類參數量 | 相較 00 |</a:t>
            </a:r>
          </a:p>
          <a:p xmlns:a="http://schemas.openxmlformats.org/drawingml/2006/main">
            <a:r>
              <a:t>|---|---|---:|---:|</a:t>
            </a:r>
          </a:p>
          <a:p xmlns:a="http://schemas.openxmlformats.org/drawingml/2006/main">
            <a:r>
              <a:t>| 00-baseline | 原入口、原六個 CSAR、原語意分支與原型解碼 | 6,302,676 | 基準 |</a:t>
            </a:r>
          </a:p>
          <a:p xmlns:a="http://schemas.openxmlformats.org/drawingml/2006/main">
            <a:r>
              <a:t>| 01-luma | 00 加入亮度／相對對比／方向梯度入口旁路 | 6,303,638 | +962，約 0.015% |</a:t>
            </a:r>
          </a:p>
          <a:p xmlns:a="http://schemas.openxmlformats.org/drawingml/2006/main">
            <a:r>
              <a:t>| 02-shallow | 01 加入 P2/P3 淺層特徵直達預測頭 | 6,378,586 | +75,910，約 1.204% |</a:t>
            </a:r>
          </a:p>
          <a:p xmlns:a="http://schemas.openxmlformats.org/drawingml/2006/main">
            <a:r>
              <a:t>| 03-dualproto | 02 加入 P2 原生尺度解碼旁路 | 6,394,044 | +91,368，約 1.450%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00 是共同基準，沒有新增陰影專用分支。01～03 的新增分支均在訓練與推論時運算。四版保留原 AttentionResiduals、FSNetShuffle、六個 CSAR、四個 DamageSemanticAttention，以及原框、分類、mask coefficient 路徑。四份訓練 recipe 的 loss 與 640 輸入等設定相同，沒有啟用 0928 的 training_aux。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符號 | 含義與單位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I、R、G、B | 網路輸入影像與 RGB 通道，通常縮放至 0～1 |</a:t>
            </a:r>
          </a:p>
          <a:p xmlns:a="http://schemas.openxmlformats.org/drawingml/2006/main">
            <a:r>
              <a:t>| u、v | 目前所討論張量的空間位置，不能直接視為原圖像素 |</a:t>
            </a:r>
          </a:p>
          <a:p xmlns:a="http://schemas.openxmlformats.org/drawingml/2006/main">
            <a:r>
              <a:t>| F、S、D、C | 學習式特徵，數值可正可負，不是亮度或機率 |</a:t>
            </a:r>
          </a:p>
          <a:p xmlns:a="http://schemas.openxmlformats.org/drawingml/2006/main">
            <a:r>
              <a:t>| σ(z) | sigmoid，將實數映射至 0～1 |</a:t>
            </a:r>
          </a:p>
          <a:p xmlns:a="http://schemas.openxmlformats.org/drawingml/2006/main">
            <a:r>
              <a:t>| tanh(z) | 雙曲正切，輸出介於 −1 與 1 |</a:t>
            </a:r>
          </a:p>
          <a:p xmlns:a="http://schemas.openxmlformats.org/drawingml/2006/main">
            <a:r>
              <a:t>| ⊙、[A,B] | 逐元素相乘、沿通道拼接 |</a:t>
            </a:r>
          </a:p>
          <a:p xmlns:a="http://schemas.openxmlformats.org/drawingml/2006/main">
            <a:r>
              <a:t>| Pₖ、cᵢₖ | 第 k 個共享遮罩原型、第 i 個實例的原型係數 |</a:t>
            </a:r>
          </a:p>
          <a:p xmlns:a="http://schemas.openxmlformats.org/drawingml/2006/main">
            <a:r>
              <a:t>| y、p、z | 真值 0/1 遮罩、預測機率、未經 sigmoid 的 logit |</a:t>
            </a:r>
          </a:p>
          <a:p xmlns:a="http://schemas.openxmlformats.org/drawingml/2006/main">
            <a:r>
              <a:t>| K=8、M=32 | 類別數、原型數，兩者不同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640×640 輸入，P2、P3、P4、P5 分別為 160²、80²、40²、20²。以下張量形狀省略 batch 維度。若原圖為 800×600，實際推論會縮放／補邊，特徵位置與原圖位置必須經座標映射。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B. 共通基礎：陰影、卷積、門控與梯度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B1. 為何亮度低不能直接等同凹損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用簡化成像模型理解：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I(u,v)\approx L(u,v)\rho(u,v)+\eta(u,v).</a:t>
            </a:r>
          </a:p>
          <a:p xmlns:a="http://schemas.openxmlformats.org/drawingml/2006/main">
            <a:r>
              <a:t>\tag{B1}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 是照明，ρ 是表面反射相關量，η 代表雜訊。這是說明用的近似式，未涵蓋所有金屬反光、相機響應與幾何因素，也不是本模型內部估計的量。陰影改變 L，鏽蝕可能改變反射與紋理，凹損又可能因表面方向改變而形成明暗變化；同一個低亮度值可能來自多種原因。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在一個小區域內，若陰影近似一致衰減 a，則 `I′≈aI，0&lt;a&lt;1`。局部亮暗差也約變成原來的 a 倍，弱線索更容易接近雜訊；噪聲不一定同步縮小，因此不能聲稱相對對比就能恢復已丟失訊息。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B2. Conv、BN、SiLU 的各自作用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本專案大多數 `Conv` 模組包含以下三步：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z_o(u,v)=\sum_{c,r,t}W_{o,c,r,t}X_c(su+r,sv+t)+b_o,</a:t>
            </a:r>
          </a:p>
          <a:p xmlns:a="http://schemas.openxmlformats.org/drawingml/2006/main">
            <a:r>
              <a:t>\tag{B2}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\widehat z=\gamma\frac{z-\mu_B}{\sqrt{\sigma_B^2+\epsilon_B}}+\beta,</a:t>
            </a:r>
          </a:p>
          <a:p xmlns:a="http://schemas.openxmlformats.org/drawingml/2006/main">
            <a:r>
              <a:t>\qquad \operatorname{SiLU}(z)=z\sigma(z).</a:t>
            </a:r>
          </a:p>
          <a:p xmlns:a="http://schemas.openxmlformats.org/drawingml/2006/main">
            <a:r>
              <a:t>\tag{B3}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 為學習式濾波器，s 為 stride；第一式是常見卷積簡寫，省略 padding 索引。實作中有 BN 的 Conv 不設卷積 bias，平移由 BN 的 β 提供。3×3 聚合鄰近紋理，1×1 在每個位置混合通道並調整通道數。stride=2 同時降低空間解析度，計算量下降，但非常細的形狀可能不再完整保留。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BN 在訓練時按通道統計 batch／空間上的均值與變異，推論使用累積統計；它不會逐個陰影區域估計照明。SiLU 提供非線性且保留部分負響應，讓網路可表達較複雜的明暗組合。它不等於光照校正。程式中 `act=False` 的 Conv 仍含 BN，只省去 SiLU。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B3. 深度卷積與一般卷積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通道數相同時，本文分支中的 DWConv 按通道做空間卷積：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D_c(u,v)=\sum_{r,t}w_{c,r,t}X_c(u+r,v+t).</a:t>
            </a:r>
          </a:p>
          <a:p xmlns:a="http://schemas.openxmlformats.org/drawingml/2006/main">
            <a:r>
              <a:t>\tag{B4}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 C→C 的 k×k 卷積約需 k²C² 個權重，depthwise 約為 k²C，這裡省略 BN／bias。DWConv 本身不混合不同通道，前後的 1×1 投影補足通道混合。它讓本次的局部細節分支較輕量，但參數少不代表整體 FPS 一定按相同比例提高。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B4. sigmoid、tanh 與殘差門控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\sigma(z)=\frac1{1+e^{-z}},\quad \sigma'(z)=\sigma(z)(1-\sigma(z)),</a:t>
            </a:r>
          </a:p>
          <a:p xmlns:a="http://schemas.openxmlformats.org/drawingml/2006/main">
            <a:r>
              <a:t>\tag{B5}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\tanh(z)=\frac{e^z-e^{-z}}{e^z+e^{-z}},\quad</a:t>
            </a:r>
          </a:p>
          <a:p xmlns:a="http://schemas.openxmlformats.org/drawingml/2006/main">
            <a:r>
              <a:t>\tanh'(z)=1-\tanh^2(z).</a:t>
            </a:r>
          </a:p>
          <a:p xmlns:a="http://schemas.openxmlformats.org/drawingml/2006/main">
            <a:r>
              <a:t>\tag{B6}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把門控值限制到 0～1；tanh 讓可學習的旁路增益有界且可正可負。門控可抑制或放行細節，但沒有被標成陰影機率。當 sigmoid 或 tanh 飽和，導數會變小，更新可能變慢。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對殘差融合 `F′=F+tanh(α)G⊙D`，固定其餘依賴時：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D}=\tanh(\alpha)G,\qquad</a:t>
            </a:r>
          </a:p>
          <a:p xmlns:a="http://schemas.openxmlformats.org/drawingml/2006/main">
            <a:r>
              <a:t>\frac{\partial F'}{\partial\alpha}=(1-\tanh^2\alpha)G\odot D.</a:t>
            </a:r>
          </a:p>
          <a:p xmlns:a="http://schemas.openxmlformats.org/drawingml/2006/main">
            <a:r>
              <a:t>\tag{B7}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 G 也依賴特徵，完整梯度還有門控的鏈式項。原 F 的直接路徑提供一條恆等梯度通道，而新分支仍能學習。在這些新增模組中 α 初始 0.1，門控卷積初始為零，因此 `G=0.5`，初始相乘係數約 `0.5×tanh(0.1)=0.049834`。這不是「整體特徵只改變 5%」的保證，因為 D 與 F 的幅度可能不同。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門控本身也需要學習。令 G=σ(z_g)，固定 D 及其他依賴時：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F'}{\partial z_g}</a:t>
            </a:r>
          </a:p>
          <a:p xmlns:a="http://schemas.openxmlformats.org/drawingml/2006/main">
            <a:r>
              <a:t> =\tanh(\alpha)D\odot G(1-G).</a:t>
            </a:r>
          </a:p>
          <a:p xmlns:a="http://schemas.openxmlformats.org/drawingml/2006/main">
            <a:r>
              <a:t>\tag{B8}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初始 G=0.5 時，G(1−G)=0.25，讓 gate 有更新機會。若 gate 後來接近 0 或 1，梯度可能較小；因此不能把初始中性門控當成已經學會分離陰影的證據。原路、細節路與 gate 共享上游時，完整反向傳播會把所有依賴項相加。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殘差學習的背景可參考 [ResNet](https://arxiv.org/abs/1512.03385)。本專案使用門控與小增益是具體工程設計，該論文的精度數字不能當作本專案的結果。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D. 01-luma：從輸入保留陰影中的相對明暗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D1. 亮度近似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Y=0.299R+0.587G+0.114B.</a:t>
            </a:r>
          </a:p>
          <a:p xmlns:a="http://schemas.openxmlformats.org/drawingml/2006/main">
            <a:r>
              <a:t>\tag{D1}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三通道收斂為一張無色彩明暗圖，綠色通道權重較大。此處直接作用於輸入 RGB，沒有額外做線性光反伽瑪校正，因此更精確的說法是灰階／luma 近似，不是物理光度量。保留原 RGB 主路也很重要：鏽蝕顏色仍由原路處理，不會只剩灰階。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D2. 局部平均與邊界處理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\mu_k(u,v)=\frac1{k^2}\sum_{(r,t)\in\Omega_k}Y(u+r,v+t),</a:t>
            </a:r>
          </a:p>
          <a:p xmlns:a="http://schemas.openxmlformats.org/drawingml/2006/main">
            <a:r>
              <a:t>\qquad k\in\{5,15\}.</a:t>
            </a:r>
          </a:p>
          <a:p xmlns:a="http://schemas.openxmlformats.org/drawingml/2006/main">
            <a:r>
              <a:t>\tag{D2}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5×5 表達較近鄰的背景，15×15 表達較大範圍的背景，兩者皆在原網路輸入尺寸計算。圖邊使用 replicate padding，把邊界值延伸出去；因此均勻亮面或均勻暗面不會因補零而多出假的邊緣。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D3. 有號相對對比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q_k=\frac{Y-\mu_k}{\mu_k+\epsilon},\quad</a:t>
            </a:r>
          </a:p>
          <a:p xmlns:a="http://schemas.openxmlformats.org/drawingml/2006/main">
            <a:r>
              <a:t>C_k=\tanh(q_k),\qquad\epsilon=1/255.</a:t>
            </a:r>
          </a:p>
          <a:p xmlns:a="http://schemas.openxmlformats.org/drawingml/2006/main">
            <a:r>
              <a:t>\tag{D3}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分子衡量比周圍亮或暗多少；保留正負號可區分亮側與暗側。分母把絕對差轉成相對周圍亮度的差，ε 避免除以零，tanh 限制極端值。ε 是加在分母中的穩定項，不是 `max(μ,ε)`，兩者運算不同。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若局部影像同時乘上 a，則：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q'_k=\frac{a(Y-\mu_k)}{a\mu_k+\epsilon}</a:t>
            </a:r>
          </a:p>
          <a:p xmlns:a="http://schemas.openxmlformats.org/drawingml/2006/main">
            <a:r>
              <a:t>     =\frac{Y-\mu_k}{\mu_k+\epsilon/a}.</a:t>
            </a:r>
          </a:p>
          <a:p xmlns:a="http://schemas.openxmlformats.org/drawingml/2006/main">
            <a:r>
              <a:t>\tag{D4}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 μ 遠大於 ε/a，q′ 接近 q，表示均勻變暗後相對對比可能較穩定。當環境非常暗，ε/a 變大、相對訊號會縮小；這是抑制極暗噪聲的代價。若陰影邊界穿過 5×5／15×15 區域，a 在區域內不一致，以上近似不成立，純陰影邊界仍會產生高對比。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若衰減係數 a 隨位置變化，連續近似的乘積微分為：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\nabla(aY)=a\nabla Y+Y\nabla a.</a:t>
            </a:r>
          </a:p>
          <a:p xmlns:a="http://schemas.openxmlformats.org/drawingml/2006/main">
            <a:r>
              <a:t>\tag{D4b}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第一項含原表面的明暗變化，第二項來自照明變化。即使表面沒有凹損，只要陰影邊界讓 ∇a 不為零，也會有梯度。因此 Sobel 或高通響應只是候選線索，後續上下文、正確標記與純陰影負例才決定是否當作損壞。這是分析用的連續近似，實際程式使用下節的離散濾波核。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示意：原 Y=0.20、μ=0.24，變暗為四分之一後 Y′=0.05、μ′=0.06。絕對差由 −0.04 變成 −0.01，經 D3 的相對對比分別約 −0.163 與 −0.155。這僅說明算子的數值行為，沒有證明這個區域是凹損。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D4. 水平／垂直梯度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K_x=\frac18\begin{bmatrix}-1&amp;0&amp;1\\-2&amp;0&amp;2\\-1&amp;0&amp;1\end{bmatrix},</a:t>
            </a:r>
          </a:p>
          <a:p xmlns:a="http://schemas.openxmlformats.org/drawingml/2006/main">
            <a:r>
              <a:t>\qquad K_y=\frac18\begin{bmatrix}-1&amp;-2&amp;-1\\0&amp;0&amp;0\\1&amp;2&amp;1\end{bmatrix},</a:t>
            </a:r>
          </a:p>
          <a:p xmlns:a="http://schemas.openxmlformats.org/drawingml/2006/main">
            <a:r>
              <a:t>\tag{D5}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g_x=K_x*Y,\quad g_y=K_y*Y,\quad</a:t>
            </a:r>
          </a:p>
          <a:p xmlns:a="http://schemas.openxmlformats.org/drawingml/2006/main">
            <a:r>
              <a:t>G_x=\tanh\!\left(\frac{g_x}{\mu_5+\epsilon}\right),\quad</a:t>
            </a:r>
          </a:p>
          <a:p xmlns:a="http://schemas.openxmlformats.org/drawingml/2006/main">
            <a:r>
              <a:t>G_y=\tanh\!\left(\frac{g_y}{\mu_5+\epsilon}\right).</a:t>
            </a:r>
          </a:p>
          <a:p xmlns:a="http://schemas.openxmlformats.org/drawingml/2006/main">
            <a:r>
              <a:t>\tag{D6}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此處 * 表示程式的空間濾波運算。Sobel 類核對一方向求差，同時在另一方向平滑；1/8 控制響應尺度。保留有號 x/y 梯度，可以描述凹損附近明暗轉折的方向，並未合成梯度大小或推算深度。貨櫃溝槽與投影陰影同樣有方向梯度，需由後續上下文與標記判別。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D5. 五通道細節與 RGB 主路融合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E=[Y,C_5,C_{15},G_x,G_y],\quad</a:t>
            </a:r>
          </a:p>
          <a:p xmlns:a="http://schemas.openxmlformats.org/drawingml/2006/main">
            <a:r>
              <a:t>D=\operatorname{DWConv}_{3\times3}(\operatorname{Conv}_{3\times3,s=2}(E)),</a:t>
            </a:r>
          </a:p>
          <a:p xmlns:a="http://schemas.openxmlformats.org/drawingml/2006/main">
            <a:r>
              <a:t>\tag{D7}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F=\operatorname{Conv}_{3\times3,s=2}(I),\quad</a:t>
            </a:r>
          </a:p>
          <a:p xmlns:a="http://schemas.openxmlformats.org/drawingml/2006/main">
            <a:r>
              <a:t>G=\sigma(W_g[F,D]+b_g),\quad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\tag{D8}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 規模下 F、D 均為 16×320×320，G 為 1×320×320，對所有通道共用同位置的門控。Wg 是 1×1 卷積，能根據原特徵與細節學習位置選擇。D8 與 B7 一起說明新分支如何獲得梯度，原 Conv 的同名權重仍可載入。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局部統計與濾波在 FP32 計算後轉回輸入 dtype，降低黑暗處除法在低精度中的數值風險。這是實作的數值處理，不會增加額外影像資訊。alpha 學習後也可為負，旁路因此可修正或抵消某些訊號。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**01 的影響：**讓低亮度區的相對變化更明確地進入主幹，僅增加 962 個可學習參數。可能同時放大暗處噪聲、陰影界線及板面溝槽；固定局部平均等運算不算入參數量，但仍消耗時間。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E. 02-shallow：讓局部形狀直接到達預測頭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E1. 原路與新增路的精確位置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繼承 01，head 從八個輸入增至十個。每一個新增融合只處理同解析度的兩個特徵：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融合尺度 | 原 head 特徵 | 新增淺層來源 | n 規模來源通道 | 融合後通道與尺寸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P3 | layer 22 | FSNet layer 6 | 64 | 128×80×80 |</a:t>
            </a:r>
          </a:p>
          <a:p xmlns:a="http://schemas.openxmlformats.org/drawingml/2006/main">
            <a:r>
              <a:t>| P2 | layer 25 | FSNet layer 3 | 32 | 64×160×160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 P2 特徵本來就來自 layer 2 的語意分支。新增 layer 3 提供 FSNet 混合後的另一特徵來源；不能描述成原本完全沒有 P2，或所有 P2 原本都經過多輪 CSAR。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E2. 投影與雙尺度差分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S=\operatorname{Conv}_{1\times1}(S_{raw}),\quad</a:t>
            </a:r>
          </a:p>
          <a:p xmlns:a="http://schemas.openxmlformats.org/drawingml/2006/main">
            <a:r>
              <a:t>\Delta_3=S-\operatorname{Avg}_3(S),\quad</a:t>
            </a:r>
          </a:p>
          <a:p xmlns:a="http://schemas.openxmlformats.org/drawingml/2006/main">
            <a:r>
              <a:t>\Delta_7=S-\operatorname{Avg}_7(S).</a:t>
            </a:r>
          </a:p>
          <a:p xmlns:a="http://schemas.openxmlformats.org/drawingml/2006/main">
            <a:r>
              <a:t>\tag{E1}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Conv 對齊通道數。S 是經過網路與 BN/SiLU 的特徵，可能含正負數；此處不做 D3 的亮度除法。差分把局部平均成分扣掉，保留局部變化，均勻特徵區則接近零。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它可寫成 `(δ−Bₖ)*S`，δ 為恆等核、Bₖ 為平均核，其直流響應為零，具高通特性。高通也會保留噪聲與規律溝槽，所以還保留完整 S，一併交給後續學習。P2 上 3/7 格約跨 12/28 個輸入像素，P3 約跨 24/56 個輸入像素；這是格距換算，不是包含前面所有卷積的完整感受野。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E3. 拼接、細節重組與門控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U=[S,\Delta_3,\Delta_7],\quad</a:t>
            </a:r>
          </a:p>
          <a:p xmlns:a="http://schemas.openxmlformats.org/drawingml/2006/main">
            <a:r>
              <a:t>D=\operatorname{DWConv}_{3\times3}(\operatorname{Conv}_{1\times1}(U)),</a:t>
            </a:r>
          </a:p>
          <a:p xmlns:a="http://schemas.openxmlformats.org/drawingml/2006/main">
            <a:r>
              <a:t>\tag{E2}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G=\sigma(W_g[F,S]+b_g),\qquad</a:t>
            </a:r>
          </a:p>
          <a:p xmlns:a="http://schemas.openxmlformats.org/drawingml/2006/main">
            <a:r>
              <a:t>F'=F+\tanh(\alpha)G\odot D.</a:t>
            </a:r>
          </a:p>
          <a:p xmlns:a="http://schemas.openxmlformats.org/drawingml/2006/main">
            <a:r>
              <a:t>\tag{E3}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 通道數為 3C，1×1 將三種訊號學習式融合回 C 通道，DWConv 再整合局部空間。**E3 的 gate 使用 F 與 S，不是 F 與 D**，這與入口分支的實作不同。P3、P2 各有自己的融合模組與可學習增益。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兩個融合後的特徵同時送入框、分類、mask coefficients 與 prototype。語意 logits 仍來自原四個語意分支，不另造一組 shadow logits。梯度能沿新增連接返回 FSNet 的淺層特徵，提供較直接的損壞監督路徑。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E4. 對陰影與完整範圍的作用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如果深層特徵偏向較強烈的鏽斑而忽略附近微弱凹損，淺層差異提供另一個機會，使模型在分類與定位前就看到局部形狀。它也可能增加只看局部紋理的誤報，因此原深層 F 保留，gate 根據原／淺層特徵學習取捨。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相較 01 增加 74,948 個參數，相較 00 累積增加 75,910。這是跨層連接與卷積模組的增加，不是更改 confidence 門檻。側向連接結合細節與語意的背景可參考 [FPN](https://arxiv.org/abs/1612.03144)，本次具體路由依上表本地實作。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G. 四版共用的監督：為何正確標記仍決定結果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G1. 最終實例的 BCE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\ell(z,y)=-y\log\sigma(z)-(1-y)\log(1-\sigma(z)),</a:t>
            </a:r>
          </a:p>
          <a:p xmlns:a="http://schemas.openxmlformats.org/drawingml/2006/main">
            <a:r>
              <a:t>\quad \frac{\partial\ell}{\partial z}=\sigma(z)-y.</a:t>
            </a:r>
          </a:p>
          <a:p xmlns:a="http://schemas.openxmlformats.org/drawingml/2006/main">
            <a:r>
              <a:t>\tag{G1}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實作使用穩定的 logits 形式。對 y=1 的漏掉像素，負梯度促使 logit 上升；對 y=0 的誤塗像素，正梯度促使 logit 下降。此關係是所有新分支學習完整範圍的直接來源之一。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令 Bᵢ 為該正樣本的 GT 框，Aᵢ 為其佔輸入影像的面積比例，HₘWₘ 為 prototype 像素數：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L_{mask}=\frac{\lambda_{seg}}{N_{pos}}</a:t>
            </a:r>
          </a:p>
          <a:p xmlns:a="http://schemas.openxmlformats.org/drawingml/2006/main">
            <a:r>
              <a:t>\sum_i\frac{1}{A_iH_mW_m}\sum_{u,v}\mathbf1[(u,v)\in B_i]\,\ell(z_i,y_i).</a:t>
            </a:r>
          </a:p>
          <a:p xmlns:a="http://schemas.openxmlformats.org/drawingml/2006/main">
            <a:r>
              <a:t>\tag{G2}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這是本地 mask loss 的正樣本／框內平均概括式，λseg 使用既有 `hyp.box`，框的位置先映射至 prototype 尺度；框架另有 batch 尺度處理。空目標走原空樣本處理，沒有除以零。i 是正樣本指派，一個實例可對應多個正樣本。若標記只圈凹損局部，loss 就只會教這個局部範圍。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G2. D/R 多標籤與重疊權重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各類 GT 是該類實例的逐像素聯集，兩類可以同時為 1；縮小語意監督圖時使用 max pooling 保留正例，但粗尺度上也可能把非常接近的物件合併到同一格。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w=1+2\mathbf1[\sum_cY_c&gt;1],\qquad</a:t>
            </a:r>
          </a:p>
          <a:p xmlns:a="http://schemas.openxmlformats.org/drawingml/2006/main">
            <a:r>
              <a:t>L_{wBCE}=\frac{\sum_{b,c,u,v}w\,\ell(z_c,Y_c)}{K\sum_{b,u,v}w}.</a:t>
            </a:r>
          </a:p>
          <a:p xmlns:a="http://schemas.openxmlformats.org/drawingml/2006/main">
            <a:r>
              <a:t>\tag{G3}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多類共現位置在 BCE 中具有相對 3:1 權重，經分母正規化後不等於總梯度固定放大三倍。每張圖、每個類別的 Dice 項為：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L_{Dice}=\operatorname{mean}_{b,c}\left[</a:t>
            </a:r>
          </a:p>
          <a:p xmlns:a="http://schemas.openxmlformats.org/drawingml/2006/main">
            <a:r>
              <a:t>1-\frac{2\sum_{u,v}p_cY_c+1}{\sum_{u,v}p_c+\sum_{u,v}Y_c+1}\right],</a:t>
            </a:r>
          </a:p>
          <a:p xmlns:a="http://schemas.openxmlformats.org/drawingml/2006/main">
            <a:r>
              <a:t>\tag{G4}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L_{aux}=0.5\operatorname{mean}_{4\ scales}</a:t>
            </a:r>
          </a:p>
          <a:p xmlns:a="http://schemas.openxmlformats.org/drawingml/2006/main">
            <a:r>
              <a:t>              (0.5L_{wBCE}+0.5L_{Dice}).</a:t>
            </a:r>
          </a:p>
          <a:p xmlns:a="http://schemas.openxmlformats.org/drawingml/2006/main">
            <a:r>
              <a:t>\tag{G5}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 的平滑常數是本程式設定的 1，Dice 沒有另外套用 G3 的像素權重。它衡量前景重合，BCE 提供逐位置監督，二者合併為既有語意項。沒有真實陰影標記時，這些公式也不會自動產生陰影監督。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原框、分類、DFL、heatmap、seedmap 等項維持原設定，本文不把未修改的項說成新方法。0929 也沒有額外加入 0928 的 Tversky extent loss 或成對陰影一致性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H. 陰影情境下的預期影響與驗證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情境 | 主要涉及的運算 | 可能幫助 | 需排查的副作用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暗處但仍有局部明暗差 | D3～D8 | 相對對比、方向變化可進入主幹 | 雜訊與陰影邊界也可能增強 |</a:t>
            </a:r>
          </a:p>
          <a:p xmlns:a="http://schemas.openxmlformats.org/drawingml/2006/main">
            <a:r>
              <a:t>| 深層特徵忽略細小凹損 | E1～E3 | 淺層線索直接影響分類、定位與遮罩 | 溝槽或污漬造成局部誤報 |</a:t>
            </a:r>
          </a:p>
          <a:p xmlns:a="http://schemas.openxmlformats.org/drawingml/2006/main">
            <a:r>
              <a:t>| 有偵測但只畫一小塊 | F1～F6 | 原生 P2 資訊參與遮罩組合 | 邊界外溢、錯標範圍被強化 |</a:t>
            </a:r>
          </a:p>
          <a:p xmlns:a="http://schemas.openxmlformats.org/drawingml/2006/main">
            <a:r>
              <a:t>| 凹損與鏽蝕共存 | C10、G3～G5 | 保留兩類獨立存在機率 | 粗尺度共現不一定是真實像素交集 |</a:t>
            </a:r>
          </a:p>
          <a:p xmlns:a="http://schemas.openxmlformats.org/drawingml/2006/main">
            <a:r>
              <a:t>| 完全黑暗或物理不可見 | B1、D4 | 沒有可靠的恢復保證 | 用上下文猜測可能造成假損壞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評估時區分陰影中的真正凹損與「純陰影但無損壞」負例。用固定 confidence／IoU 規則做實例一對一配對，另以有精細 GT 的遮罩計算：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\operatorname{Recall}=TP/(TP+FN),\quad</a:t>
            </a:r>
          </a:p>
          <a:p xmlns:a="http://schemas.openxmlformats.org/drawingml/2006/main">
            <a:r>
              <a:t>\operatorname{Precision}=TP/(TP+FP),\quad</a:t>
            </a:r>
          </a:p>
          <a:p xmlns:a="http://schemas.openxmlformats.org/drawingml/2006/main">
            <a:r>
              <a:t>\operatorname{IoU}=TP/(TP+FN+FP).</a:t>
            </a:r>
          </a:p>
          <a:p xmlns:a="http://schemas.openxmlformats.org/drawingml/2006/main">
            <a:r>
              <a:t>\tag{H1}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 可用於明確定義的像素或實例計數，但兩種單位不能混用。遮罩召回提高且精確率大跌，可能只是塗得更大。未偵測到的整個物件也必須列入漏檢，不能只評估成功配對者。分母為零時應採用事先約定的評估規則並揭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各版需使用相同資料、起始權重與訓練安排。新 XML 只有框，不能直接當作精細 mask；尤其新的 D24/D25 陰影位置與 D16 完整範圍，需要與實際訓練 polygon 一致。這張照片若仍在 train 集，只能作除錯案例，不是獨立精度證據。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I. 程式與公式對照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程式 | 主要公式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[block.py](../ultralytics/nn/modules/block.py)：AttentionResiduals、FSNetShuffle、CSAR、Proto26MultiLabel | C1～C6、C12～C13 |</a:t>
            </a:r>
          </a:p>
          <a:p xmlns:a="http://schemas.openxmlformats.org/drawingml/2006/main">
            <a:r>
              <a:t>| [damage_semantic.py](../ultralytics/nn/modules/damage_semantic.py) | C7～C11 |</a:t>
            </a:r>
          </a:p>
          <a:p xmlns:a="http://schemas.openxmlformats.org/drawingml/2006/main">
            <a:r>
              <a:t>| [shadow_dent.py](../ultralytics/nn/modules/shadow_dent.py)：LuminanceDetail、DentDetailFusion | D1～D7、E1～E3 |</a:t>
            </a:r>
          </a:p>
          <a:p xmlns:a="http://schemas.openxmlformats.org/drawingml/2006/main">
            <a:r>
              <a:t>| [damage_architecture.py](../ultralytics/nn/modules/damage_architecture.py) | D8、F1～F5 |</a:t>
            </a:r>
          </a:p>
          <a:p xmlns:a="http://schemas.openxmlformats.org/drawingml/2006/main">
            <a:r>
              <a:t>| [head.py](../ultralytics/nn/modules/head.py)、[loss.py](../ultralytics/utils/loss.py) | C14、G1～G5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原模型／配套訓練 YAML 與執行方式見 [0929 架構文件](damage-architecture-0929.md)。93 項程式測試與既有權重移植檢查只證明受測條件下可執行，不代表陰影召回已提高；新分支仍需訓練與資料集驗證。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J. YAML 參數、空間尺度與數學運算的對應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四個檔是逐步累加的架構對照。`00-baseline` 沒有新增分支，01 加入口細節，02 再加兩條淺層直達連接，03 再加 prototype 旁路。各版模型檔如下：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[00-baseline.yaml](../ultralytics/cfg/models/11_myself/yolo11-6csar-arch-0929-00-baseline.yaml)</a:t>
            </a:r>
          </a:p>
          <a:p xmlns:a="http://schemas.openxmlformats.org/drawingml/2006/main">
            <a:r>
              <a:t>- [01-luma.yaml](../ultralytics/cfg/models/11_myself/yolo11-6csar-arch-0929-01-luma.yaml)</a:t>
            </a:r>
          </a:p>
          <a:p xmlns:a="http://schemas.openxmlformats.org/drawingml/2006/main">
            <a:r>
              <a:t>- [02-shallow.yaml](../ultralytics/cfg/models/11_myself/yolo11-6csar-arch-0929-02-shallow.yaml)</a:t>
            </a:r>
          </a:p>
          <a:p xmlns:a="http://schemas.openxmlformats.org/drawingml/2006/main">
            <a:r>
              <a:t>- [03-dualproto.yaml](../ultralytics/cfg/models/11_myself/yolo11-6csar-arch-0929-03-dualproto.yaml)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的 `[-1,1,LuminanceResidualStem,[64,3,2,0.1]]` 表示接前一輸入、建立一次新 stem、名義 64 通道、3×3 卷積、stride 2、初始 α=0.1。n 模型的通道按以下方式縮放：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C_{actual}=8\left\lceil\frac{\min(C_{yaml},1024)\times0.25}{8}\right\rceil.</a:t>
            </a:r>
          </a:p>
          <a:p xmlns:a="http://schemas.openxmlformats.org/drawingml/2006/main">
            <a:r>
              <a:t>\tag{J1}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因此入口實際為 16 通道，prototype 中間通道 256 變為 64。式中的向上取整讓通道保持 8 的倍數；它控制計算容量，不是陰影強度。類別數 `nc` 由資料集覆寫為 8，原型數 32 不按這個寬度比例縮放。一般重複次數大於 1 的模組使用 `max(round(n×0.5),1)`；此為四版共用的 n 深度設定。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02／03 的 head 輸入為 `[22,25,28,31,23,26,29,32,6,3]`。前四路是特徵、接著四路是類別 logits、末兩路是新增淺層來源。`[nc,32,256,0.5,2.0,0.1]` 的末三個數分別是原有語意 loss gain、原有共現額外權重與新增分支增益初值；前三者決定輸出類別與原型容量。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這四版沒有建立新 Shadow 類別，沒有將陰影像素作為另一個 GT mask。01 的 G、02 的 G、03 的 G 都是任務內部門控，其值不能解讀為經校準的陰影機率。新分支必須訓練，只有 YAML 不會使既有 last0926.pt 自動學到新功能。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手算範例：分割修正不等於全部原型變亮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只看一個像素，若原 logit z=−1，則 p=σ(−1)≈0.269。假設學習後的原型殘差經係數組合，令該像素的 logit 增加 0.2，則 p′=σ(−0.8)≈0.310。這表示機率改變，不代表已越過顯示遮罩的切分門檻，更不等於物件 confidence 變成 0.310。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對真值 y=1、p=0.1 的漏掉像素，BCE 的 logit 梯度是 −0.9。若某原型係數 cᵢₖ=−0.5、β=0.1、G=0.5，F6 的該原型梯度約為 +0.0224。梯度下降會降低這個原型值，乘上負係數後反而使最終 logit 提高。所有數值均為公式示例，不是實測改善。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三種數值應分開閱讀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數值 | 意義 | 是否直接等同另一個數值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內部 gate G | 控制新增特徵的相對貢獻 | 不是陰影分類機率 |</a:t>
            </a:r>
          </a:p>
          <a:p xmlns:a="http://schemas.openxmlformats.org/drawingml/2006/main">
            <a:r>
              <a:t>| 實例像素 pᵢ=σ(zᵢ) | 像素屬於某個實例的估計 | 不等於物件 confidence |</a:t>
            </a:r>
          </a:p>
          <a:p xmlns:a="http://schemas.openxmlformats.org/drawingml/2006/main">
            <a:r>
              <a:t>| 顯示／篩選用 confidence | 物件候選的分類分數 | 隱藏文字不改變篩選門檻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程式來源：ultralytics/nn/modules/{damage_architecture.py,shadow_dent.py,damage_semantic.py,block.py,head.py}；ultralytics/utils/loss.py；四個 yolo11-6csar-arch-0929-*.yaml。以 2026-09-30 工作區程式為準。</a:t>
            </a:r>
          </a:p>
          <a:p xmlns:a="http://schemas.openxmlformats.org/drawingml/2006/main">
            <a:r>
              <a:t>原理參考：https://arxiv.org/abs/1706.03762；https://arxiv.org/abs/1512.03385；https://arxiv.org/abs/1612.03144；https://arxiv.org/abs/1505.04597。文獻只用於原理背景，未移用其效能數字。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b0e8c317543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d075389764e5d" /><Relationship Type="http://schemas.openxmlformats.org/officeDocument/2006/relationships/slideLayout" Target="/ppt/slideLayouts/slideLayout1.xml" Id="R3a6191375db84b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191375db84b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bfb5864b44c94" /><Relationship Type="http://schemas.openxmlformats.org/officeDocument/2006/relationships/notesSlide" Target="/ppt/notesSlides/notesSlide1.xml" Id="R06422643701e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a19f998f64b3c" /><Relationship Type="http://schemas.openxmlformats.org/officeDocument/2006/relationships/notesSlide" Target="/ppt/notesSlides/notesSlide2.xml" Id="R9ba661f5f5a3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F26E3E-A572-44C4-BC38-245B605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02 淺層特徵直達預測頭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FFA140-255B-4719-A411-97B93F5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繼承 01 入口旁路，再加入 FSNet 的 P3 與 P2 來源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DBBCF28-3984-430A-BEDE-9742AD63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02 相較 01 新增 74,948 個參數。新增特徵影響框、分類、係數與原型。</a:t>
            </a:r>
          </a:p>
        </p:txBody>
      </p:sp>
      <p:sp>
        <p:nvSpPr>
          <p:cNvPr id="4" name="routes-heading">
            <a:extLst xmlns:a="http://schemas.openxmlformats.org/drawingml/2006/main">
              <a:ext uri="{FF2B5EF4-FFF2-40B4-BE49-F238E27FC236}">
                <a16:creationId xmlns:a16="http://schemas.microsoft.com/office/drawing/2014/main" id="{9443A7A1-2075-4901-9CA0-0AE15DD2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48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兩條新增連接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90550" y="2228850"/>
          <a:ext xmlns:a="http://schemas.openxmlformats.org/drawingml/2006/main" cx="5391150" cy="1866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2181225"/>
                <a:gridCol w="2143125"/>
              </a:tblGrid>
              <a:tr h="622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尺度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 head 特徵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 FSNet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layer 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layer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layer 25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layer 3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routes-note">
            <a:extLst xmlns:a="http://schemas.openxmlformats.org/drawingml/2006/main">
              <a:ext uri="{FF2B5EF4-FFF2-40B4-BE49-F238E27FC236}">
                <a16:creationId xmlns:a16="http://schemas.microsoft.com/office/drawing/2014/main" id="{403CE150-A842-43BB-BE00-768F59B7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P3 融合後：128×80×80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P2 融合後：64×160×160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以上為 n 規模、640 輸入。</a:t>
            </a:r>
          </a:p>
        </p:txBody>
      </p:sp>
      <p:sp>
        <p:nvSpPr>
          <p:cNvPr id="7" name="difference-heading">
            <a:extLst xmlns:a="http://schemas.openxmlformats.org/drawingml/2006/main">
              <a:ext uri="{FF2B5EF4-FFF2-40B4-BE49-F238E27FC236}">
                <a16:creationId xmlns:a16="http://schemas.microsoft.com/office/drawing/2014/main" id="{F617078C-72F7-4469-A03F-04776A6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24025"/>
            <a:ext cx="5124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投影後保留局部差異</a:t>
            </a:r>
          </a:p>
        </p:txBody>
      </p:sp>
      <p:sp>
        <p:nvSpPr>
          <p:cNvPr id="8" name="shallow-project">
            <a:extLst xmlns:a="http://schemas.openxmlformats.org/drawingml/2006/main">
              <a:ext uri="{FF2B5EF4-FFF2-40B4-BE49-F238E27FC236}">
                <a16:creationId xmlns:a16="http://schemas.microsoft.com/office/drawing/2014/main" id="{4AAA6490-3505-49D1-AC03-C351692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S = Conv₁×₁(Sraw)</a:t>
            </a:r>
          </a:p>
        </p:txBody>
      </p:sp>
      <p:sp>
        <p:nvSpPr>
          <p:cNvPr id="9" name="difference3">
            <a:extLst xmlns:a="http://schemas.openxmlformats.org/drawingml/2006/main">
              <a:ext uri="{FF2B5EF4-FFF2-40B4-BE49-F238E27FC236}">
                <a16:creationId xmlns:a16="http://schemas.microsoft.com/office/drawing/2014/main" id="{36523B1E-DCEC-4757-86DA-C35A178E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Δ₃ = S − Avg₃(S)</a:t>
            </a:r>
          </a:p>
        </p:txBody>
      </p:sp>
      <p:sp>
        <p:nvSpPr>
          <p:cNvPr id="10" name="difference7">
            <a:extLst xmlns:a="http://schemas.openxmlformats.org/drawingml/2006/main">
              <a:ext uri="{FF2B5EF4-FFF2-40B4-BE49-F238E27FC236}">
                <a16:creationId xmlns:a16="http://schemas.microsoft.com/office/drawing/2014/main" id="{58F607FC-80B3-4513-9ACC-809EA805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512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Δ₇ = S − Avg₇(S)</a:t>
            </a:r>
          </a:p>
        </p:txBody>
      </p:sp>
      <p:sp>
        <p:nvSpPr>
          <p:cNvPr id="11" name="difference-meaning">
            <a:extLst xmlns:a="http://schemas.openxmlformats.org/drawingml/2006/main">
              <a:ext uri="{FF2B5EF4-FFF2-40B4-BE49-F238E27FC236}">
                <a16:creationId xmlns:a16="http://schemas.microsoft.com/office/drawing/2014/main" id="{4DE2DC74-ED7A-480C-A87B-405646BE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5124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S 是學習式特徵，可正可負。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此處扣掉局部平均，不做亮度除法。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均勻特徵的差分接近零。</a:t>
            </a:r>
          </a:p>
        </p:txBody>
      </p:sp>
      <p:sp>
        <p:nvSpPr>
          <p:cNvPr id="12" name="p2-existing">
            <a:extLst xmlns:a="http://schemas.openxmlformats.org/drawingml/2006/main">
              <a:ext uri="{FF2B5EF4-FFF2-40B4-BE49-F238E27FC236}">
                <a16:creationId xmlns:a16="http://schemas.microsoft.com/office/drawing/2014/main" id="{9D0FDC00-6E20-44E8-BBFB-DDFB878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0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原模型已含 P2。此版再加入 layer 3 的 FSNet 特徵，保留原語意路徑。</a:t>
            </a:r>
          </a:p>
        </p:txBody>
      </p:sp>
    </p:spTree>
    <p:extLst>
      <p:ext uri="{BB962C8B-B14F-4D97-AF65-F5344CB8AC3E}">
        <p14:creationId xmlns:p14="http://schemas.microsoft.com/office/powerpoint/2010/main" val="1873927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5DFA22C-785D-4A59-9460-705D5760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337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02 細節門控與純陰影誤報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EEDFB0-C890-40E3-8A22-8ACD311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保留完整淺層特徵 S，同時學習兩種局部差分的用途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3D4B222-9B60-45B9-9E11-B74539E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相較基準累積增加 75,910 個參數。陰影凹損召回與純陰影誤報須共同評估。</a:t>
            </a:r>
          </a:p>
        </p:txBody>
      </p:sp>
      <p:sp>
        <p:nvSpPr>
          <p:cNvPr id="4" name="fuse-heading">
            <a:extLst xmlns:a="http://schemas.openxmlformats.org/drawingml/2006/main">
              <a:ext uri="{FF2B5EF4-FFF2-40B4-BE49-F238E27FC236}">
                <a16:creationId xmlns:a16="http://schemas.microsoft.com/office/drawing/2014/main" id="{8096174A-3E3D-495B-AA78-F8E7395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548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淺層融合的實際順序</a:t>
            </a:r>
          </a:p>
        </p:txBody>
      </p:sp>
      <p:sp>
        <p:nvSpPr>
          <p:cNvPr id="5" name="stack">
            <a:extLst xmlns:a="http://schemas.openxmlformats.org/drawingml/2006/main">
              <a:ext uri="{FF2B5EF4-FFF2-40B4-BE49-F238E27FC236}">
                <a16:creationId xmlns:a16="http://schemas.microsoft.com/office/drawing/2014/main" id="{198A539A-1AFC-4498-B93E-0BA201E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548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U = [S, Δ₃, Δ₇]</a:t>
            </a:r>
          </a:p>
        </p:txBody>
      </p:sp>
      <p:sp>
        <p:nvSpPr>
          <p:cNvPr id="6" name="refine">
            <a:extLst xmlns:a="http://schemas.openxmlformats.org/drawingml/2006/main">
              <a:ext uri="{FF2B5EF4-FFF2-40B4-BE49-F238E27FC236}">
                <a16:creationId xmlns:a16="http://schemas.microsoft.com/office/drawing/2014/main" id="{0AB3570F-2426-4881-863D-3FB60AB8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548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D = DWConv₃×₃(Conv₁×₁(U))</a:t>
            </a:r>
          </a:p>
        </p:txBody>
      </p:sp>
      <p:sp>
        <p:nvSpPr>
          <p:cNvPr id="7" name="gate">
            <a:extLst xmlns:a="http://schemas.openxmlformats.org/drawingml/2006/main">
              <a:ext uri="{FF2B5EF4-FFF2-40B4-BE49-F238E27FC236}">
                <a16:creationId xmlns:a16="http://schemas.microsoft.com/office/drawing/2014/main" id="{56D04C3F-8276-449B-86C0-98FCC72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548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G = σ(Wg[F,S] + b)</a:t>
            </a:r>
          </a:p>
        </p:txBody>
      </p:sp>
      <p:sp>
        <p:nvSpPr>
          <p:cNvPr id="8" name="residual">
            <a:extLst xmlns:a="http://schemas.openxmlformats.org/drawingml/2006/main">
              <a:ext uri="{FF2B5EF4-FFF2-40B4-BE49-F238E27FC236}">
                <a16:creationId xmlns:a16="http://schemas.microsoft.com/office/drawing/2014/main" id="{B28CBD55-50A7-42EA-BFE3-5B267145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548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53447"/>
                </a:solidFill>
                <a:latin typeface="Noto Sans TC"/>
                <a:ea typeface="Noto Sans TC"/>
                <a:cs typeface="Noto Sans TC"/>
              </a:rPr>
              <a:t>F′ = F + tanh(α) G ⊙ D</a:t>
            </a:r>
          </a:p>
        </p:txBody>
      </p:sp>
      <p:sp>
        <p:nvSpPr>
          <p:cNvPr id="9" name="gate-input-note">
            <a:extLst xmlns:a="http://schemas.openxmlformats.org/drawingml/2006/main">
              <a:ext uri="{FF2B5EF4-FFF2-40B4-BE49-F238E27FC236}">
                <a16:creationId xmlns:a16="http://schemas.microsoft.com/office/drawing/2014/main" id="{5D7A6472-9E10-4370-93B4-194A1B1E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54864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此處 gate 讀取 F 與 S。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P3、P2 各有自己的模組與增益。</a:t>
            </a:r>
          </a:p>
          <a:p xmlns:a="http://schemas.openxmlformats.org/drawingml/2006/main">
            <a:pPr>
              <a:def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新增連接讓梯度直接返回淺層。</a:t>
            </a:r>
          </a:p>
        </p:txBody>
      </p:sp>
      <p:sp>
        <p:nvSpPr>
          <p:cNvPr id="10" name="effect-heading">
            <a:extLst xmlns:a="http://schemas.openxmlformats.org/drawingml/2006/main">
              <a:ext uri="{FF2B5EF4-FFF2-40B4-BE49-F238E27FC236}">
                <a16:creationId xmlns:a16="http://schemas.microsoft.com/office/drawing/2014/main" id="{347786E3-A35A-43ED-93A0-C52C573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24025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07B80"/>
                </a:solidFill>
                <a:latin typeface="Noto Sans TC"/>
                <a:ea typeface="Noto Sans TC"/>
                <a:cs typeface="Noto Sans TC"/>
              </a:rPr>
              <a:t>不同訊號都可能通過差分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534150" y="2238375"/>
          <a:ext xmlns:a="http://schemas.openxmlformats.org/drawingml/2006/main" cx="50673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3124200"/>
              </a:tblGrid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區域特徵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差分與辨識影響</a:t>
                      </a:r>
                    </a:p>
                  </a:txBody>
                  <a:tcPr marL="91440" marR="91440" marT="45720" marB="45720">
                    <a:solidFill>
                      <a:srgbClr val="1534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均勻特徵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局部差分接近零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微弱形狀變化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可能保留凹損線索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純陰影界線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也可能產生強響應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規律溝槽／雜訊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44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需原特徵與 gate 判別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12" name="effect-note">
            <a:extLst xmlns:a="http://schemas.openxmlformats.org/drawingml/2006/main">
              <a:ext uri="{FF2B5EF4-FFF2-40B4-BE49-F238E27FC236}">
                <a16:creationId xmlns:a16="http://schemas.microsoft.com/office/drawing/2014/main" id="{E23E99FE-6FA7-4293-8A9C-496ACD1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43525"/>
            <a:ext cx="506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高通線索不能單獨判定損壞。</a:t>
            </a:r>
          </a:p>
          <a:p xmlns:a="http://schemas.openxmlformats.org/drawingml/2006/main">
            <a:pPr>
              <a:def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95C69"/>
                </a:solidFill>
                <a:latin typeface="Noto Sans TC"/>
                <a:ea typeface="Noto Sans TC"/>
                <a:cs typeface="Noto Sans TC"/>
              </a:rPr>
              <a:t>訓練標記與陰影負例決定學到的取捨。</a:t>
            </a:r>
          </a:p>
        </p:txBody>
      </p:sp>
    </p:spTree>
    <p:extLst>
      <p:ext uri="{BB962C8B-B14F-4D97-AF65-F5344CB8AC3E}">
        <p14:creationId xmlns:p14="http://schemas.microsoft.com/office/powerpoint/2010/main" val="171753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2026-09-30T04:40:14.9230000Z</dcterms:created>
  <dcterms:modified xsi:type="dcterms:W3CDTF">2026-09-30T04:40:14.9230000Z</dcterms:modified>
</coreProperties>
</file>