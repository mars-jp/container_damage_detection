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4f458e270540d6" /><Relationship Type="http://schemas.openxmlformats.org/officeDocument/2006/relationships/extended-properties" Target="/docProps/app.xml" Id="R750aa0411fe141e1" /><Relationship Type="http://schemas.openxmlformats.org/officeDocument/2006/relationships/officeDocument" Target="/ppt/presentation.xml" Id="R944d6d816fb848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2da56e7e0d4648"/>
  </p:sldMasterIdLst>
  <p:notesMasterIdLst>
    <p:notesMasterId xmlns:r="http://schemas.openxmlformats.org/officeDocument/2006/relationships" r:id="Re0089aba55de4dad"/>
  </p:notesMasterIdLst>
  <p:sldIdLst>
    <p:sldId xmlns:r="http://schemas.openxmlformats.org/officeDocument/2006/relationships" id="256" r:id="R979567bc6cb8481c"/>
    <p:sldId xmlns:r="http://schemas.openxmlformats.org/officeDocument/2006/relationships" id="257" r:id="Rbd24ffcd4bce45d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70cd35bd864f63" /><Relationship Type="http://schemas.openxmlformats.org/officeDocument/2006/relationships/slideMaster" Target="/ppt/slideMasters/slideMaster1.xml" Id="Rec2da56e7e0d4648" /><Relationship Type="http://schemas.openxmlformats.org/officeDocument/2006/relationships/notesMaster" Target="/ppt/notesMasters/notesMaster1.xml" Id="Re0089aba55de4dad" /><Relationship Type="http://schemas.openxmlformats.org/officeDocument/2006/relationships/presProps" Target="/ppt/presProps.xml" Id="Racee2d798e494ebb" /><Relationship Type="http://schemas.openxmlformats.org/officeDocument/2006/relationships/tableStyles" Target="/ppt/tableStyles.xml" Id="R63f9c9806a7d4339" /><Relationship Type="http://schemas.openxmlformats.org/officeDocument/2006/relationships/slide" Target="/ppt/slides/slide1.xml" Id="R979567bc6cb8481c" /><Relationship Type="http://schemas.openxmlformats.org/officeDocument/2006/relationships/slide" Target="/ppt/slides/slide2.xml" Id="Rbd24ffcd4bce45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cf174693274e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e14e6f40174795" /><Relationship Type="http://schemas.openxmlformats.org/officeDocument/2006/relationships/notesMaster" Target="/ppt/notesMasters/notesMaster1.xml" Id="R03bde0ace7374dd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85a58541da44f09" /><Relationship Type="http://schemas.openxmlformats.org/officeDocument/2006/relationships/notesMaster" Target="/ppt/notesMasters/notesMaster1.xml" Id="R64624762eadd44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A. 四個版本與符號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版本 | 局部架構改動 | n 規模、八類參數量 | 相較 00 |</a:t>
            </a:r>
          </a:p>
          <a:p xmlns:a="http://schemas.openxmlformats.org/drawingml/2006/main">
            <a:r>
              <a:t>|---|---|---:|---:|</a:t>
            </a:r>
          </a:p>
          <a:p xmlns:a="http://schemas.openxmlformats.org/drawingml/2006/main">
            <a:r>
              <a:t>| 00-baseline | 原入口、原六個 CSAR、原語意分支與原型解碼 | 6,302,676 | 基準 |</a:t>
            </a:r>
          </a:p>
          <a:p xmlns:a="http://schemas.openxmlformats.org/drawingml/2006/main">
            <a:r>
              <a:t>| 01-luma | 00 加入亮度／相對對比／方向梯度入口旁路 | 6,303,638 | +962，約 0.015% |</a:t>
            </a:r>
          </a:p>
          <a:p xmlns:a="http://schemas.openxmlformats.org/drawingml/2006/main">
            <a:r>
              <a:t>| 02-shallow | 01 加入 P2/P3 淺層特徵直達預測頭 | 6,378,586 | +75,910，約 1.204% |</a:t>
            </a:r>
          </a:p>
          <a:p xmlns:a="http://schemas.openxmlformats.org/drawingml/2006/main">
            <a:r>
              <a:t>| 03-dualproto | 02 加入 P2 原生尺度解碼旁路 | 6,394,044 | +91,368，約 1.450%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00 是共同基準，沒有新增陰影專用分支。01～03 的新增分支均在訓練與推論時運算。四版保留原 AttentionResiduals、FSNetShuffle、六個 CSAR、四個 DamageSemanticAttention，以及原框、分類、mask coefficient 路徑。四份訓練 recipe 的 loss 與 640 輸入等設定相同，沒有啟用 0928 的 training_aux。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符號 | 含義與單位 |</a:t>
            </a:r>
          </a:p>
          <a:p xmlns:a="http://schemas.openxmlformats.org/drawingml/2006/main">
            <a:r>
              <a:t>|---|---|</a:t>
            </a:r>
          </a:p>
          <a:p xmlns:a="http://schemas.openxmlformats.org/drawingml/2006/main">
            <a:r>
              <a:t>| I、R、G、B | 網路輸入影像與 RGB 通道，通常縮放至 0～1 |</a:t>
            </a:r>
          </a:p>
          <a:p xmlns:a="http://schemas.openxmlformats.org/drawingml/2006/main">
            <a:r>
              <a:t>| u、v | 目前所討論張量的空間位置，不能直接視為原圖像素 |</a:t>
            </a:r>
          </a:p>
          <a:p xmlns:a="http://schemas.openxmlformats.org/drawingml/2006/main">
            <a:r>
              <a:t>| F、S、D、C | 學習式特徵，數值可正可負，不是亮度或機率 |</a:t>
            </a:r>
          </a:p>
          <a:p xmlns:a="http://schemas.openxmlformats.org/drawingml/2006/main">
            <a:r>
              <a:t>| σ(z) | sigmoid，將實數映射至 0～1 |</a:t>
            </a:r>
          </a:p>
          <a:p xmlns:a="http://schemas.openxmlformats.org/drawingml/2006/main">
            <a:r>
              <a:t>| tanh(z) | 雙曲正切，輸出介於 −1 與 1 |</a:t>
            </a:r>
          </a:p>
          <a:p xmlns:a="http://schemas.openxmlformats.org/drawingml/2006/main">
            <a:r>
              <a:t>| ⊙、[A,B] | 逐元素相乘、沿通道拼接 |</a:t>
            </a:r>
          </a:p>
          <a:p xmlns:a="http://schemas.openxmlformats.org/drawingml/2006/main">
            <a:r>
              <a:t>| Pₖ、cᵢₖ | 第 k 個共享遮罩原型、第 i 個實例的原型係數 |</a:t>
            </a:r>
          </a:p>
          <a:p xmlns:a="http://schemas.openxmlformats.org/drawingml/2006/main">
            <a:r>
              <a:t>| y、p、z | 真值 0/1 遮罩、預測機率、未經 sigmoid 的 logit |</a:t>
            </a:r>
          </a:p>
          <a:p xmlns:a="http://schemas.openxmlformats.org/drawingml/2006/main">
            <a:r>
              <a:t>| K=8、M=32 | 類別數、原型數，兩者不同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 640×640 輸入，P2、P3、P4、P5 分別為 160²、80²、40²、20²。以下張量形狀省略 batch 維度。若原圖為 800×600，實際推論會縮放／補邊，特徵位置與原圖位置必須經座標映射。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B. 共通基礎：陰影、卷積、門控與梯度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B1. 為何亮度低不能直接等同凹損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用簡化成像模型理解：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I(u,v)\approx L(u,v)\rho(u,v)+\eta(u,v).</a:t>
            </a:r>
          </a:p>
          <a:p xmlns:a="http://schemas.openxmlformats.org/drawingml/2006/main">
            <a:r>
              <a:t>\tag{B1}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 是照明，ρ 是表面反射相關量，η 代表雜訊。這是說明用的近似式，未涵蓋所有金屬反光、相機響應與幾何因素，也不是本模型內部估計的量。陰影改變 L，鏽蝕可能改變反射與紋理，凹損又可能因表面方向改變而形成明暗變化；同一個低亮度值可能來自多種原因。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在一個小區域內，若陰影近似一致衰減 a，則 `I′≈aI，0&lt;a&lt;1`。局部亮暗差也約變成原來的 a 倍，弱線索更容易接近雜訊；噪聲不一定同步縮小，因此不能聲稱相對對比就能恢復已丟失訊息。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B2. Conv、BN、SiLU 的各自作用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本專案大多數 `Conv` 模組包含以下三步：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z_o(u,v)=\sum_{c,r,t}W_{o,c,r,t}X_c(su+r,sv+t)+b_o,</a:t>
            </a:r>
          </a:p>
          <a:p xmlns:a="http://schemas.openxmlformats.org/drawingml/2006/main">
            <a:r>
              <a:t>\tag{B2}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\widehat z=\gamma\frac{z-\mu_B}{\sqrt{\sigma_B^2+\epsilon_B}}+\beta,</a:t>
            </a:r>
          </a:p>
          <a:p xmlns:a="http://schemas.openxmlformats.org/drawingml/2006/main">
            <a:r>
              <a:t>\qquad \operatorname{SiLU}(z)=z\sigma(z).</a:t>
            </a:r>
          </a:p>
          <a:p xmlns:a="http://schemas.openxmlformats.org/drawingml/2006/main">
            <a:r>
              <a:t>\tag{B3}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 為學習式濾波器，s 為 stride；第一式是常見卷積簡寫，省略 padding 索引。實作中有 BN 的 Conv 不設卷積 bias，平移由 BN 的 β 提供。3×3 聚合鄰近紋理，1×1 在每個位置混合通道並調整通道數。stride=2 同時降低空間解析度，計算量下降，但非常細的形狀可能不再完整保留。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BN 在訓練時按通道統計 batch／空間上的均值與變異，推論使用累積統計；它不會逐個陰影區域估計照明。SiLU 提供非線性且保留部分負響應，讓網路可表達較複雜的明暗組合。它不等於光照校正。程式中 `act=False` 的 Conv 仍含 BN，只省去 SiLU。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B3. 深度卷積與一般卷積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通道數相同時，本文分支中的 DWConv 按通道做空間卷積：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D_c(u,v)=\sum_{r,t}w_{c,r,t}X_c(u+r,v+t).</a:t>
            </a:r>
          </a:p>
          <a:p xmlns:a="http://schemas.openxmlformats.org/drawingml/2006/main">
            <a:r>
              <a:t>\tag{B4}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一般 C→C 的 k×k 卷積約需 k²C² 個權重，depthwise 約為 k²C，這裡省略 BN／bias。DWConv 本身不混合不同通道，前後的 1×1 投影補足通道混合。它讓本次的局部細節分支較輕量，但參數少不代表整體 FPS 一定按相同比例提高。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B4. sigmoid、tanh 與殘差門控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\sigma(z)=\frac1{1+e^{-z}},\quad \sigma'(z)=\sigma(z)(1-\sigma(z)),</a:t>
            </a:r>
          </a:p>
          <a:p xmlns:a="http://schemas.openxmlformats.org/drawingml/2006/main">
            <a:r>
              <a:t>\tag{B5}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\tanh(z)=\frac{e^z-e^{-z}}{e^z+e^{-z}},\quad</a:t>
            </a:r>
          </a:p>
          <a:p xmlns:a="http://schemas.openxmlformats.org/drawingml/2006/main">
            <a:r>
              <a:t>\tanh'(z)=1-\tanh^2(z).</a:t>
            </a:r>
          </a:p>
          <a:p xmlns:a="http://schemas.openxmlformats.org/drawingml/2006/main">
            <a:r>
              <a:t>\tag{B6}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sigmoid 把門控值限制到 0～1；tanh 讓可學習的旁路增益有界且可正可負。門控可抑制或放行細節，但沒有被標成陰影機率。當 sigmoid 或 tanh 飽和，導數會變小，更新可能變慢。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對殘差融合 `F′=F+tanh(α)G⊙D`，固定其餘依賴時：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\frac{\partial F'}{\partial D}=\tanh(\alpha)G,\qquad</a:t>
            </a:r>
          </a:p>
          <a:p xmlns:a="http://schemas.openxmlformats.org/drawingml/2006/main">
            <a:r>
              <a:t>\frac{\partial F'}{\partial\alpha}=(1-\tanh^2\alpha)G\odot D.</a:t>
            </a:r>
          </a:p>
          <a:p xmlns:a="http://schemas.openxmlformats.org/drawingml/2006/main">
            <a:r>
              <a:t>\tag{B7}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實際 G 也依賴特徵，完整梯度還有門控的鏈式項。原 F 的直接路徑提供一條恆等梯度通道，而新分支仍能學習。在這些新增模組中 α 初始 0.1，門控卷積初始為零，因此 `G=0.5`，初始相乘係數約 `0.5×tanh(0.1)=0.049834`。這不是「整體特徵只改變 5%」的保證，因為 D 與 F 的幅度可能不同。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門控本身也需要學習。令 G=σ(z_g)，固定 D 及其他依賴時：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\frac{\partial F'}{\partial z_g}</a:t>
            </a:r>
          </a:p>
          <a:p xmlns:a="http://schemas.openxmlformats.org/drawingml/2006/main">
            <a:r>
              <a:t> =\tanh(\alpha)D\odot G(1-G).</a:t>
            </a:r>
          </a:p>
          <a:p xmlns:a="http://schemas.openxmlformats.org/drawingml/2006/main">
            <a:r>
              <a:t>\tag{B8}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初始 G=0.5 時，G(1−G)=0.25，讓 gate 有更新機會。若 gate 後來接近 0 或 1，梯度可能較小；因此不能把初始中性門控當成已經學會分離陰影的證據。原路、細節路與 gate 共享上游時，完整反向傳播會把所有依賴項相加。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殘差學習的背景可參考 [ResNet](https://arxiv.org/abs/1512.03385)。本專案使用門控與小增益是具體工程設計，該論文的精度數字不能當作本專案的結果。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C. 00-baseline：陰影線索如何通過原主架構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C1. AttentionResiduals：在不同深度狀態間分配權重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令 Xⱼ 為同一區塊內的第 j 個特徵狀態：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\widetilde X_j=\frac{X_j}{\sqrt{\operatorname{mean}_c(X_j^2)+10^{-6}}},\quad</a:t>
            </a:r>
          </a:p>
          <a:p xmlns:a="http://schemas.openxmlformats.org/drawingml/2006/main">
            <a:r>
              <a:t>e_j=\sum_cq_c\widetilde X_{j,c},</a:t>
            </a:r>
          </a:p>
          <a:p xmlns:a="http://schemas.openxmlformats.org/drawingml/2006/main">
            <a:r>
              <a:t>\tag{C1}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a_j=\frac{e^{e_j}}{\sum_re^{e_r}},\qquad Z=\sum_ja_jX_j.</a:t>
            </a:r>
          </a:p>
          <a:p xmlns:a="http://schemas.openxmlformats.org/drawingml/2006/main">
            <a:r>
              <a:t>\tag{C2}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第一步是按位置跨通道的 RMS 正規化，用於計算權重，減輕單純特徵幅度差異的影響。q 是可學習通道查詢；第二式 softmax 沿「深度狀態」正規化，權重總和為 1。用正規化後的特徵計權重，但最後加權的是原 Xⱼ。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 初始為零，多個狀態初始等權；只有一個狀態時直接回傳。陰影中的低階邊緣可以透過早期狀態保留，但權重並沒有凹損／陰影語意標籤，仍需資料學習。RMS 正規化也不等同還原真實光照。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C2. FSNetShuffle：投影、通道重排與局部整合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U_j=\operatorname{Resize}(\operatorname{Conv}_{1\times1,j}(X_j)),\quad</a:t>
            </a:r>
          </a:p>
          <a:p xmlns:a="http://schemas.openxmlformats.org/drawingml/2006/main">
            <a:r>
              <a:t>F=\operatorname{Conv}_{3\times3}(\operatorname{Shuffle}_2([U_1,U_2])).</a:t>
            </a:r>
          </a:p>
          <a:p xmlns:a="http://schemas.openxmlformats.org/drawingml/2006/main">
            <a:r>
              <a:t>\tag{C3}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投影把兩個來源分配到目標通道；拼接後以兩組做 reshape、transpose 再 flatten，讓不同來源的通道交錯。Shuffle 只是通道置換，不產生新的空間細節；後續卷積才學習組合。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 YAML 的 FSNet 各輸入對是同一解析度的 Conv／AttentionResiduals 特徵，所以這些位置通常不用實際縮放。模組雖支援跨解析度處理，不能把這份 YAML 中每次 FSNet 都描述為 P2/P4 交換。真正跨尺度的融合主要由後續 CSAR 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C3. CSAR：同一位置比較不同來源尺度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先把來源特徵對齊到目標尺寸，每個 attention head 計算：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Q=W_qF_t,\quad K_s=W_{k,s}\operatorname{Resize}(F_s),\quad</a:t>
            </a:r>
          </a:p>
          <a:p xmlns:a="http://schemas.openxmlformats.org/drawingml/2006/main">
            <a:r>
              <a:t>V_s=W_{v,s}\operatorname{Resize}(F_s),</a:t>
            </a:r>
          </a:p>
          <a:p xmlns:a="http://schemas.openxmlformats.org/drawingml/2006/main">
            <a:r>
              <a:t>\tag{C4}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e_s(u,v)=\frac{\langle Q(u,v),K_s(u,v)\rangle}{\sqrt{d_k}},\quad</a:t>
            </a:r>
          </a:p>
          <a:p xmlns:a="http://schemas.openxmlformats.org/drawingml/2006/main">
            <a:r>
              <a:t>a_s=\operatorname{softmax}_{s}(e_s),\quad Z=\sum_sa_sV_s,</a:t>
            </a:r>
          </a:p>
          <a:p xmlns:a="http://schemas.openxmlformats.org/drawingml/2006/main">
            <a:r>
              <a:t>\tag{C5}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F_{out}=\operatorname{Proj}(Z+\operatorname{DWConv}_{3\times3}(V_t))</a:t>
            </a:r>
          </a:p>
          <a:p xmlns:a="http://schemas.openxmlformats.org/drawingml/2006/main">
            <a:r>
              <a:t>       +\operatorname{Shortcut}(F_t).</a:t>
            </a:r>
          </a:p>
          <a:p xmlns:a="http://schemas.openxmlformats.org/drawingml/2006/main">
            <a:r>
              <a:t>\tag{C6}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 的簡寫包含程式中的 1×1 Conv／BN。這裡 softmax 沿「來源尺度」進行，不是沿損壞類別，也不是全圖所有像素。內積衡量目標與來源的一致性，√dₖ 限制維度變大時的分數幅度，空間 depthwise 分支補入局部關係。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 規模、四個 heads 下，128 通道輸出的 dₖ=16，256 通道輸出的 dₖ=32。這不同於下一節語意 token 的固定 32 維 head。六個 CSAR 分成兩輪，每輪形成 P3/P4/P5。陰影中局部線索弱時，較大範圍的資訊可能有幫助；若深層特徵也把陰影當損壞，融合仍可能傳遞錯誤。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C4. DamageSemanticAttention：類別 token 讀取影像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每一尺度先將視覺特徵投影到 128 維，拉平成空間序列 N=H×W。LayerNorm 作用於每個 token 的通道：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\operatorname{LN}(x)=\gamma\frac{x-\operatorname{mean}(x)}</a:t>
            </a:r>
          </a:p>
          <a:p xmlns:a="http://schemas.openxmlformats.org/drawingml/2006/main">
            <a:r>
              <a:t> {\sqrt{\operatorname{var}(x)+\epsilon_{LN}}}+\beta.</a:t>
            </a:r>
          </a:p>
          <a:p xmlns:a="http://schemas.openxmlformats.org/drawingml/2006/main">
            <a:r>
              <a:t>\tag{C7}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LN 穩定通道間尺度，不負責估計陰影照明。八個可學習 damage tokens 依資料類別排列，沒有文字編碼器。四個 heads 各有 32 維：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Q=W_q\operatorname{LN}(T),\quad K_v=W_kV,\quad U=W_vV,</a:t>
            </a:r>
          </a:p>
          <a:p xmlns:a="http://schemas.openxmlformats.org/drawingml/2006/main">
            <a:r>
              <a:t>\quad A=\operatorname{softmax}_{space}(QK_v^T/\sqrt{32}),</a:t>
            </a:r>
          </a:p>
          <a:p xmlns:a="http://schemas.openxmlformats.org/drawingml/2006/main">
            <a:r>
              <a:t>\tag{C8}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T_1=T+W_o\operatorname{ConcatHeads}(AU),\quad</a:t>
            </a:r>
          </a:p>
          <a:p xmlns:a="http://schemas.openxmlformats.org/drawingml/2006/main">
            <a:r>
              <a:t>T'=\operatorname{LN}\{T_1+\operatorname{FFN}(T_1)\}.</a:t>
            </a:r>
          </a:p>
          <a:p xmlns:a="http://schemas.openxmlformats.org/drawingml/2006/main">
            <a:r>
              <a:t>\tag{C9}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C8 的 V 是經 1×1 投影、flatten／transpose 與 C7 的 LayerNorm 後的視覺序列。Kᵥ 表示 key 矩陣，避免與類別數 K=8 混淆；程式中的 Linear 含 bias，式中 W 表示完整仿射投影。A 對每個類別各自沿空間位置分配注意力。某些明亮位置的可靠凹損紋理可參與更新類別 token，接著影響整張特徵圖的回應；如果陰影中缺乏相關證據，注意力本身不能創造它。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FFN 是 LayerNorm、128→256 的線性投影、GELU、256→128 的投影。GELU 可寫成 `xΦ(x)`，Φ 為標準常態累積分布，提供平滑非線性；它不是額外的機率分類器。縮放點積注意力的背景見 [Attention Is All You Need](https://arxiv.org/abs/1706.03762)，本程式的類別 token 與視覺回饋依本地實作定義。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C5. 獨立類別回應及回饋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\ell_{c,p}=\langle W'_qT'_c,W'_kV_p\rangle/\sqrt{128}+b_c,</a:t>
            </a:r>
          </a:p>
          <a:p xmlns:a="http://schemas.openxmlformats.org/drawingml/2006/main">
            <a:r>
              <a:t>\quad r_{c,p}=\sigma(\ell_{c,p}),</a:t>
            </a:r>
          </a:p>
          <a:p xmlns:a="http://schemas.openxmlformats.org/drawingml/2006/main">
            <a:r>
              <a:t>\tag{C10}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S_p=\frac1{8}\sum_{c=1}^{8}r_{c,p}W_{sv}T'_c,</a:t>
            </a:r>
          </a:p>
          <a:p xmlns:a="http://schemas.openxmlformats.org/drawingml/2006/main">
            <a:r>
              <a:t>\qquad \widehat F=F+\gamma_s\operatorname{Conv}_{1\times1}(S).</a:t>
            </a:r>
          </a:p>
          <a:p xmlns:a="http://schemas.openxmlformats.org/drawingml/2006/main">
            <a:r>
              <a:t>\tag{C11}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與 C8 的空間 softmax 不同，C10 對每類各自取 sigmoid，因此 D 和 R 可在同一像素都高分。除以 8 平均類別回饋，γₛ 初始 0.001，且是原語意分支的直接可學習係數，**此處沒有 tanh**。不能把它和 01～03 新分支的 tanh(0.1) 混為一談。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\widehat F 真正送入 YOLO head，語意分支不只是旁觀的熱圖。四個來源為 P3 layer 18、P2 layer 2、P4 layer 19、P5 layer 20；P2 本來就有直接淺層路徑，02 是再加入 FSNet layer 3 的另一來源。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C6. 原 prototype 與最終 mask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令送入 head 的特徵順序為 P3/P2/P4/P5：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Z=F_{P3}+\sum_{s\in\{P2,P4,P5\}}</a:t>
            </a:r>
          </a:p>
          <a:p xmlns:a="http://schemas.openxmlformats.org/drawingml/2006/main">
            <a:r>
              <a:t> \operatorname{Resize}^{nearest}_{P3}(\operatorname{Conv}_{1\times1,s}(F_s)),</a:t>
            </a:r>
          </a:p>
          <a:p xmlns:a="http://schemas.openxmlformats.org/drawingml/2006/main">
            <a:r>
              <a:t>\tag{C12}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P_{old}=\operatorname{Conv}_{1\times1}\!\left[</a:t>
            </a:r>
          </a:p>
          <a:p xmlns:a="http://schemas.openxmlformats.org/drawingml/2006/main">
            <a:r>
              <a:t> \operatorname{Conv}_{3\times3}\!\left(</a:t>
            </a:r>
          </a:p>
          <a:p xmlns:a="http://schemas.openxmlformats.org/drawingml/2006/main">
            <a:r>
              <a:t> \operatorname{ConvTranspose}_{2,2}(\operatorname{Conv}_{3\times3}</a:t>
            </a:r>
          </a:p>
          <a:p xmlns:a="http://schemas.openxmlformats.org/drawingml/2006/main">
            <a:r>
              <a:t> (\operatorname{Conv}_{3\times3,fuse}(Z)))\right)\right],</a:t>
            </a:r>
          </a:p>
          <a:p xmlns:a="http://schemas.openxmlformats.org/drawingml/2006/main">
            <a:r>
              <a:t>\tag{C13}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z_i(u,v)=\sum_{k=1}^{32}c_{ik}P_k(u,v),\qquad p_i=\sigma(z_i).</a:t>
            </a:r>
          </a:p>
          <a:p xmlns:a="http://schemas.openxmlformats.org/drawingml/2006/main">
            <a:r>
              <a:t>\tag{C14}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C13 按程式依序是 feat_fuse、cv1、upsample、cv2、cv3，Conv 包含其 BN／SiLU。原路徑先在 80×80 融合，再用學習式轉置卷積放大到 160×160。P2 投影後會經 nearest 縮到 P3，未取樣到的局部位置可能流失；轉置卷積有能力學習重建樣式，但不保證找回所有原始細節。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32 張原型是共享的遮罩基底，不是 32 個類別，也不必是一張完整凹損圖。實例係數 cᵢₖ 將它們線性組合，再取 sigmoid。框的定位、分類與候選配對仍影響最終能否找到物件，不能只看原型畫得較細就宣稱凹損召回提高。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**00 的陰影作用與限制：**依靠現有多尺度、類別上下文與 P2 特徵處理低亮度形狀，沒有新增相對對比或原生 P2 解碼旁路。它提供共同基準，讓後續版的差異可歸因於新增架構。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G. 四版共用的監督：為何正確標記仍決定結果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G1. 最終實例的 BCE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\ell(z,y)=-y\log\sigma(z)-(1-y)\log(1-\sigma(z)),</a:t>
            </a:r>
          </a:p>
          <a:p xmlns:a="http://schemas.openxmlformats.org/drawingml/2006/main">
            <a:r>
              <a:t>\quad \frac{\partial\ell}{\partial z}=\sigma(z)-y.</a:t>
            </a:r>
          </a:p>
          <a:p xmlns:a="http://schemas.openxmlformats.org/drawingml/2006/main">
            <a:r>
              <a:t>\tag{G1}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實作使用穩定的 logits 形式。對 y=1 的漏掉像素，負梯度促使 logit 上升；對 y=0 的誤塗像素，正梯度促使 logit 下降。此關係是所有新分支學習完整範圍的直接來源之一。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令 Bᵢ 為該正樣本的 GT 框，Aᵢ 為其佔輸入影像的面積比例，HₘWₘ 為 prototype 像素數：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L_{mask}=\frac{\lambda_{seg}}{N_{pos}}</a:t>
            </a:r>
          </a:p>
          <a:p xmlns:a="http://schemas.openxmlformats.org/drawingml/2006/main">
            <a:r>
              <a:t>\sum_i\frac{1}{A_iH_mW_m}\sum_{u,v}\mathbf1[(u,v)\in B_i]\,\ell(z_i,y_i).</a:t>
            </a:r>
          </a:p>
          <a:p xmlns:a="http://schemas.openxmlformats.org/drawingml/2006/main">
            <a:r>
              <a:t>\tag{G2}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這是本地 mask loss 的正樣本／框內平均概括式，λseg 使用既有 `hyp.box`，框的位置先映射至 prototype 尺度；框架另有 batch 尺度處理。空目標走原空樣本處理，沒有除以零。i 是正樣本指派，一個實例可對應多個正樣本。若標記只圈凹損局部，loss 就只會教這個局部範圍。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G2. D/R 多標籤與重疊權重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各類 GT 是該類實例的逐像素聯集，兩類可以同時為 1；縮小語意監督圖時使用 max pooling 保留正例，但粗尺度上也可能把非常接近的物件合併到同一格。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w=1+2\mathbf1[\sum_cY_c&gt;1],\qquad</a:t>
            </a:r>
          </a:p>
          <a:p xmlns:a="http://schemas.openxmlformats.org/drawingml/2006/main">
            <a:r>
              <a:t>L_{wBCE}=\frac{\sum_{b,c,u,v}w\,\ell(z_c,Y_c)}{K\sum_{b,u,v}w}.</a:t>
            </a:r>
          </a:p>
          <a:p xmlns:a="http://schemas.openxmlformats.org/drawingml/2006/main">
            <a:r>
              <a:t>\tag{G3}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多類共現位置在 BCE 中具有相對 3:1 權重，經分母正規化後不等於總梯度固定放大三倍。每張圖、每個類別的 Dice 項為：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L_{Dice}=\operatorname{mean}_{b,c}\left[</a:t>
            </a:r>
          </a:p>
          <a:p xmlns:a="http://schemas.openxmlformats.org/drawingml/2006/main">
            <a:r>
              <a:t>1-\frac{2\sum_{u,v}p_cY_c+1}{\sum_{u,v}p_c+\sum_{u,v}Y_c+1}\right],</a:t>
            </a:r>
          </a:p>
          <a:p xmlns:a="http://schemas.openxmlformats.org/drawingml/2006/main">
            <a:r>
              <a:t>\tag{G4}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L_{aux}=0.5\operatorname{mean}_{4\ scales}</a:t>
            </a:r>
          </a:p>
          <a:p xmlns:a="http://schemas.openxmlformats.org/drawingml/2006/main">
            <a:r>
              <a:t>              (0.5L_{wBCE}+0.5L_{Dice}).</a:t>
            </a:r>
          </a:p>
          <a:p xmlns:a="http://schemas.openxmlformats.org/drawingml/2006/main">
            <a:r>
              <a:t>\tag{G5}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G4 的平滑常數是本程式設定的 1，Dice 沒有另外套用 G3 的像素權重。它衡量前景重合，BCE 提供逐位置監督，二者合併為既有語意項。沒有真實陰影標記時，這些公式也不會自動產生陰影監督。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原框、分類、DFL、heatmap、seedmap 等項維持原設定，本文不把未修改的項說成新方法。0929 也沒有額外加入 0928 的 Tversky extent loss 或成對陰影一致性 loss。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H. 陰影情境下的預期影響與驗證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情境 | 主要涉及的運算 | 可能幫助 | 需排查的副作用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暗處但仍有局部明暗差 | D3～D8 | 相對對比、方向變化可進入主幹 | 雜訊與陰影邊界也可能增強 |</a:t>
            </a:r>
          </a:p>
          <a:p xmlns:a="http://schemas.openxmlformats.org/drawingml/2006/main">
            <a:r>
              <a:t>| 深層特徵忽略細小凹損 | E1～E3 | 淺層線索直接影響分類、定位與遮罩 | 溝槽或污漬造成局部誤報 |</a:t>
            </a:r>
          </a:p>
          <a:p xmlns:a="http://schemas.openxmlformats.org/drawingml/2006/main">
            <a:r>
              <a:t>| 有偵測但只畫一小塊 | F1～F6 | 原生 P2 資訊參與遮罩組合 | 邊界外溢、錯標範圍被強化 |</a:t>
            </a:r>
          </a:p>
          <a:p xmlns:a="http://schemas.openxmlformats.org/drawingml/2006/main">
            <a:r>
              <a:t>| 凹損與鏽蝕共存 | C10、G3～G5 | 保留兩類獨立存在機率 | 粗尺度共現不一定是真實像素交集 |</a:t>
            </a:r>
          </a:p>
          <a:p xmlns:a="http://schemas.openxmlformats.org/drawingml/2006/main">
            <a:r>
              <a:t>| 完全黑暗或物理不可見 | B1、D4 | 沒有可靠的恢復保證 | 用上下文猜測可能造成假損壞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評估時區分陰影中的真正凹損與「純陰影但無損壞」負例。用固定 confidence／IoU 規則做實例一對一配對，另以有精細 GT 的遮罩計算：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\operatorname{Recall}=TP/(TP+FN),\quad</a:t>
            </a:r>
          </a:p>
          <a:p xmlns:a="http://schemas.openxmlformats.org/drawingml/2006/main">
            <a:r>
              <a:t>\operatorname{Precision}=TP/(TP+FP),\quad</a:t>
            </a:r>
          </a:p>
          <a:p xmlns:a="http://schemas.openxmlformats.org/drawingml/2006/main">
            <a:r>
              <a:t>\operatorname{IoU}=TP/(TP+FN+FP).</a:t>
            </a:r>
          </a:p>
          <a:p xmlns:a="http://schemas.openxmlformats.org/drawingml/2006/main">
            <a:r>
              <a:t>\tag{H1}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H1 可用於明確定義的像素或實例計數，但兩種單位不能混用。遮罩召回提高且精確率大跌，可能只是塗得更大。未偵測到的整個物件也必須列入漏檢，不能只評估成功配對者。分母為零時應採用事先約定的評估規則並揭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各版需使用相同資料、起始權重與訓練安排。新 XML 只有框，不能直接當作精細 mask；尤其新的 D24/D25 陰影位置與 D16 完整範圍，需要與實際訓練 polygon 一致。這張照片若仍在 train 集，只能作除錯案例，不是獨立精度證據。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I. 程式與公式對照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程式 | 主要公式 |</a:t>
            </a:r>
          </a:p>
          <a:p xmlns:a="http://schemas.openxmlformats.org/drawingml/2006/main">
            <a:r>
              <a:t>|---|---|</a:t>
            </a:r>
          </a:p>
          <a:p xmlns:a="http://schemas.openxmlformats.org/drawingml/2006/main">
            <a:r>
              <a:t>| [block.py](../ultralytics/nn/modules/block.py)：AttentionResiduals、FSNetShuffle、CSAR、Proto26MultiLabel | C1～C6、C12～C13 |</a:t>
            </a:r>
          </a:p>
          <a:p xmlns:a="http://schemas.openxmlformats.org/drawingml/2006/main">
            <a:r>
              <a:t>| [damage_semantic.py](../ultralytics/nn/modules/damage_semantic.py) | C7～C11 |</a:t>
            </a:r>
          </a:p>
          <a:p xmlns:a="http://schemas.openxmlformats.org/drawingml/2006/main">
            <a:r>
              <a:t>| [shadow_dent.py](../ultralytics/nn/modules/shadow_dent.py)：LuminanceDetail、DentDetailFusion | D1～D7、E1～E3 |</a:t>
            </a:r>
          </a:p>
          <a:p xmlns:a="http://schemas.openxmlformats.org/drawingml/2006/main">
            <a:r>
              <a:t>| [damage_architecture.py](../ultralytics/nn/modules/damage_architecture.py) | D8、F1～F5 |</a:t>
            </a:r>
          </a:p>
          <a:p xmlns:a="http://schemas.openxmlformats.org/drawingml/2006/main">
            <a:r>
              <a:t>| [head.py](../ultralytics/nn/modules/head.py)、[loss.py](../ultralytics/utils/loss.py) | C14、G1～G5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原模型／配套訓練 YAML 與執行方式見 [0929 架構文件](damage-architecture-0929.md)。93 項程式測試與既有權重移植檢查只證明受測條件下可執行，不代表陰影召回已提高；新分支仍需訓練與資料集驗證。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J. YAML 參數、空間尺度與數學運算的對應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四個檔是逐步累加的架構對照。`00-baseline` 沒有新增分支，01 加入口細節，02 再加兩條淺層直達連接，03 再加 prototype 旁路。各版模型檔如下：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[00-baseline.yaml](../ultralytics/cfg/models/11_myself/yolo11-6csar-arch-0929-00-baseline.yaml)</a:t>
            </a:r>
          </a:p>
          <a:p xmlns:a="http://schemas.openxmlformats.org/drawingml/2006/main">
            <a:r>
              <a:t>- [01-luma.yaml](../ultralytics/cfg/models/11_myself/yolo11-6csar-arch-0929-01-luma.yaml)</a:t>
            </a:r>
          </a:p>
          <a:p xmlns:a="http://schemas.openxmlformats.org/drawingml/2006/main">
            <a:r>
              <a:t>- [02-shallow.yaml](../ultralytics/cfg/models/11_myself/yolo11-6csar-arch-0929-02-shallow.yaml)</a:t>
            </a:r>
          </a:p>
          <a:p xmlns:a="http://schemas.openxmlformats.org/drawingml/2006/main">
            <a:r>
              <a:t>- [03-dualproto.yaml](../ultralytics/cfg/models/11_myself/yolo11-6csar-arch-0929-03-dualproto.yaml)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01 的 `[-1,1,LuminanceResidualStem,[64,3,2,0.1]]` 表示接前一輸入、建立一次新 stem、名義 64 通道、3×3 卷積、stride 2、初始 α=0.1。n 模型的通道按以下方式縮放：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C_{actual}=8\left\lceil\frac{\min(C_{yaml},1024)\times0.25}{8}\right\rceil.</a:t>
            </a:r>
          </a:p>
          <a:p xmlns:a="http://schemas.openxmlformats.org/drawingml/2006/main">
            <a:r>
              <a:t>\tag{J1}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因此入口實際為 16 通道，prototype 中間通道 256 變為 64。式中的向上取整讓通道保持 8 的倍數；它控制計算容量，不是陰影強度。類別數 `nc` 由資料集覆寫為 8，原型數 32 不按這個寬度比例縮放。一般重複次數大於 1 的模組使用 `max(round(n×0.5),1)`；此為四版共用的 n 深度設定。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02／03 的 head 輸入為 `[22,25,28,31,23,26,29,32,6,3]`。前四路是特徵、接著四路是類別 logits、末兩路是新增淺層來源。`[nc,32,256,0.5,2.0,0.1]` 的末三個數分別是原有語意 loss gain、原有共現額外權重與新增分支增益初值；前三者決定輸出類別與原型容量。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這四版沒有建立新 Shadow 類別，沒有將陰影像素作為另一個 GT mask。01 的 G、02 的 G、03 的 G 都是任務內部門控，其值不能解讀為經校準的陰影機率。新分支必須訓練，只有 YAML 不會使既有 last0926.pt 自動學到新功能。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手算範例：分割修正不等於全部原型變亮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只看一個像素，若原 logit z=−1，則 p=σ(−1)≈0.269。假設學習後的原型殘差經係數組合，令該像素的 logit 增加 0.2，則 p′=σ(−0.8)≈0.310。這表示機率改變，不代表已越過顯示遮罩的切分門檻，更不等於物件 confidence 變成 0.310。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對真值 y=1、p=0.1 的漏掉像素，BCE 的 logit 梯度是 −0.9。若某原型係數 cᵢₖ=−0.5、β=0.1、G=0.5，F6 的該原型梯度約為 +0.0224。梯度下降會降低這個原型值，乘上負係數後反而使最終 logit 提高。所有數值均為公式示例，不是實測改善。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三種數值應分開閱讀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數值 | 意義 | 是否直接等同另一個數值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內部 gate G | 控制新增特徵的相對貢獻 | 不是陰影分類機率 |</a:t>
            </a:r>
          </a:p>
          <a:p xmlns:a="http://schemas.openxmlformats.org/drawingml/2006/main">
            <a:r>
              <a:t>| 實例像素 pᵢ=σ(zᵢ) | 像素屬於某個實例的估計 | 不等於物件 confidence |</a:t>
            </a:r>
          </a:p>
          <a:p xmlns:a="http://schemas.openxmlformats.org/drawingml/2006/main">
            <a:r>
              <a:t>| 顯示／篩選用 confidence | 物件候選的分類分數 | 隱藏文字不改變篩選門檻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程式來源：ultralytics/nn/modules/{damage_architecture.py,shadow_dent.py,damage_semantic.py,block.py,head.py}；ultralytics/utils/loss.py；四個 yolo11-6csar-arch-0929-*.yaml。以 2026-09-30 工作區程式為準。</a:t>
            </a:r>
          </a:p>
          <a:p xmlns:a="http://schemas.openxmlformats.org/drawingml/2006/main">
            <a:r>
              <a:t>原理參考：https://arxiv.org/abs/1706.03762；https://arxiv.org/abs/1512.03385；https://arxiv.org/abs/1612.03144；https://arxiv.org/abs/1505.04597。文獻只用於原理背景，未移用其效能數字。</a:t>
            </a:r>
          </a:p>
          <a:p xmlns:a="http://schemas.openxmlformats.org/drawingml/2006/main">
            <a:r>
              <a:t>影像來源：runs/damage_extent_0928/no_scores/000000_CBHU0708054-A/CBHU0708054-A__all.jpg，使用者提供之同一貨櫃影像的既有權重輸出。橘色 D，綠色 R，沒有繪製信心數字。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A. 四個版本與符號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版本 | 局部架構改動 | n 規模、八類參數量 | 相較 00 |</a:t>
            </a:r>
          </a:p>
          <a:p xmlns:a="http://schemas.openxmlformats.org/drawingml/2006/main">
            <a:r>
              <a:t>|---|---|---:|---:|</a:t>
            </a:r>
          </a:p>
          <a:p xmlns:a="http://schemas.openxmlformats.org/drawingml/2006/main">
            <a:r>
              <a:t>| 00-baseline | 原入口、原六個 CSAR、原語意分支與原型解碼 | 6,302,676 | 基準 |</a:t>
            </a:r>
          </a:p>
          <a:p xmlns:a="http://schemas.openxmlformats.org/drawingml/2006/main">
            <a:r>
              <a:t>| 01-luma | 00 加入亮度／相對對比／方向梯度入口旁路 | 6,303,638 | +962，約 0.015% |</a:t>
            </a:r>
          </a:p>
          <a:p xmlns:a="http://schemas.openxmlformats.org/drawingml/2006/main">
            <a:r>
              <a:t>| 02-shallow | 01 加入 P2/P3 淺層特徵直達預測頭 | 6,378,586 | +75,910，約 1.204% |</a:t>
            </a:r>
          </a:p>
          <a:p xmlns:a="http://schemas.openxmlformats.org/drawingml/2006/main">
            <a:r>
              <a:t>| 03-dualproto | 02 加入 P2 原生尺度解碼旁路 | 6,394,044 | +91,368，約 1.450%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00 是共同基準，沒有新增陰影專用分支。01～03 的新增分支均在訓練與推論時運算。四版保留原 AttentionResiduals、FSNetShuffle、六個 CSAR、四個 DamageSemanticAttention，以及原框、分類、mask coefficient 路徑。四份訓練 recipe 的 loss 與 640 輸入等設定相同，沒有啟用 0928 的 training_aux。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符號 | 含義與單位 |</a:t>
            </a:r>
          </a:p>
          <a:p xmlns:a="http://schemas.openxmlformats.org/drawingml/2006/main">
            <a:r>
              <a:t>|---|---|</a:t>
            </a:r>
          </a:p>
          <a:p xmlns:a="http://schemas.openxmlformats.org/drawingml/2006/main">
            <a:r>
              <a:t>| I、R、G、B | 網路輸入影像與 RGB 通道，通常縮放至 0～1 |</a:t>
            </a:r>
          </a:p>
          <a:p xmlns:a="http://schemas.openxmlformats.org/drawingml/2006/main">
            <a:r>
              <a:t>| u、v | 目前所討論張量的空間位置，不能直接視為原圖像素 |</a:t>
            </a:r>
          </a:p>
          <a:p xmlns:a="http://schemas.openxmlformats.org/drawingml/2006/main">
            <a:r>
              <a:t>| F、S、D、C | 學習式特徵，數值可正可負，不是亮度或機率 |</a:t>
            </a:r>
          </a:p>
          <a:p xmlns:a="http://schemas.openxmlformats.org/drawingml/2006/main">
            <a:r>
              <a:t>| σ(z) | sigmoid，將實數映射至 0～1 |</a:t>
            </a:r>
          </a:p>
          <a:p xmlns:a="http://schemas.openxmlformats.org/drawingml/2006/main">
            <a:r>
              <a:t>| tanh(z) | 雙曲正切，輸出介於 −1 與 1 |</a:t>
            </a:r>
          </a:p>
          <a:p xmlns:a="http://schemas.openxmlformats.org/drawingml/2006/main">
            <a:r>
              <a:t>| ⊙、[A,B] | 逐元素相乘、沿通道拼接 |</a:t>
            </a:r>
          </a:p>
          <a:p xmlns:a="http://schemas.openxmlformats.org/drawingml/2006/main">
            <a:r>
              <a:t>| Pₖ、cᵢₖ | 第 k 個共享遮罩原型、第 i 個實例的原型係數 |</a:t>
            </a:r>
          </a:p>
          <a:p xmlns:a="http://schemas.openxmlformats.org/drawingml/2006/main">
            <a:r>
              <a:t>| y、p、z | 真值 0/1 遮罩、預測機率、未經 sigmoid 的 logit |</a:t>
            </a:r>
          </a:p>
          <a:p xmlns:a="http://schemas.openxmlformats.org/drawingml/2006/main">
            <a:r>
              <a:t>| K=8、M=32 | 類別數、原型數，兩者不同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 640×640 輸入，P2、P3、P4、P5 分別為 160²、80²、40²、20²。以下張量形狀省略 batch 維度。若原圖為 800×600，實際推論會縮放／補邊，特徵位置與原圖位置必須經座標映射。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B. 共通基礎：陰影、卷積、門控與梯度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B1. 為何亮度低不能直接等同凹損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用簡化成像模型理解：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I(u,v)\approx L(u,v)\rho(u,v)+\eta(u,v).</a:t>
            </a:r>
          </a:p>
          <a:p xmlns:a="http://schemas.openxmlformats.org/drawingml/2006/main">
            <a:r>
              <a:t>\tag{B1}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 是照明，ρ 是表面反射相關量，η 代表雜訊。這是說明用的近似式，未涵蓋所有金屬反光、相機響應與幾何因素，也不是本模型內部估計的量。陰影改變 L，鏽蝕可能改變反射與紋理，凹損又可能因表面方向改變而形成明暗變化；同一個低亮度值可能來自多種原因。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在一個小區域內，若陰影近似一致衰減 a，則 `I′≈aI，0&lt;a&lt;1`。局部亮暗差也約變成原來的 a 倍，弱線索更容易接近雜訊；噪聲不一定同步縮小，因此不能聲稱相對對比就能恢復已丟失訊息。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B2. Conv、BN、SiLU 的各自作用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本專案大多數 `Conv` 模組包含以下三步：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z_o(u,v)=\sum_{c,r,t}W_{o,c,r,t}X_c(su+r,sv+t)+b_o,</a:t>
            </a:r>
          </a:p>
          <a:p xmlns:a="http://schemas.openxmlformats.org/drawingml/2006/main">
            <a:r>
              <a:t>\tag{B2}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\widehat z=\gamma\frac{z-\mu_B}{\sqrt{\sigma_B^2+\epsilon_B}}+\beta,</a:t>
            </a:r>
          </a:p>
          <a:p xmlns:a="http://schemas.openxmlformats.org/drawingml/2006/main">
            <a:r>
              <a:t>\qquad \operatorname{SiLU}(z)=z\sigma(z).</a:t>
            </a:r>
          </a:p>
          <a:p xmlns:a="http://schemas.openxmlformats.org/drawingml/2006/main">
            <a:r>
              <a:t>\tag{B3}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 為學習式濾波器，s 為 stride；第一式是常見卷積簡寫，省略 padding 索引。實作中有 BN 的 Conv 不設卷積 bias，平移由 BN 的 β 提供。3×3 聚合鄰近紋理，1×1 在每個位置混合通道並調整通道數。stride=2 同時降低空間解析度，計算量下降，但非常細的形狀可能不再完整保留。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BN 在訓練時按通道統計 batch／空間上的均值與變異，推論使用累積統計；它不會逐個陰影區域估計照明。SiLU 提供非線性且保留部分負響應，讓網路可表達較複雜的明暗組合。它不等於光照校正。程式中 `act=False` 的 Conv 仍含 BN，只省去 SiLU。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B3. 深度卷積與一般卷積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通道數相同時，本文分支中的 DWConv 按通道做空間卷積：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D_c(u,v)=\sum_{r,t}w_{c,r,t}X_c(u+r,v+t).</a:t>
            </a:r>
          </a:p>
          <a:p xmlns:a="http://schemas.openxmlformats.org/drawingml/2006/main">
            <a:r>
              <a:t>\tag{B4}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一般 C→C 的 k×k 卷積約需 k²C² 個權重，depthwise 約為 k²C，這裡省略 BN／bias。DWConv 本身不混合不同通道，前後的 1×1 投影補足通道混合。它讓本次的局部細節分支較輕量，但參數少不代表整體 FPS 一定按相同比例提高。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B4. sigmoid、tanh 與殘差門控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\sigma(z)=\frac1{1+e^{-z}},\quad \sigma'(z)=\sigma(z)(1-\sigma(z)),</a:t>
            </a:r>
          </a:p>
          <a:p xmlns:a="http://schemas.openxmlformats.org/drawingml/2006/main">
            <a:r>
              <a:t>\tag{B5}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\tanh(z)=\frac{e^z-e^{-z}}{e^z+e^{-z}},\quad</a:t>
            </a:r>
          </a:p>
          <a:p xmlns:a="http://schemas.openxmlformats.org/drawingml/2006/main">
            <a:r>
              <a:t>\tanh'(z)=1-\tanh^2(z).</a:t>
            </a:r>
          </a:p>
          <a:p xmlns:a="http://schemas.openxmlformats.org/drawingml/2006/main">
            <a:r>
              <a:t>\tag{B6}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sigmoid 把門控值限制到 0～1；tanh 讓可學習的旁路增益有界且可正可負。門控可抑制或放行細節，但沒有被標成陰影機率。當 sigmoid 或 tanh 飽和，導數會變小，更新可能變慢。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對殘差融合 `F′=F+tanh(α)G⊙D`，固定其餘依賴時：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\frac{\partial F'}{\partial D}=\tanh(\alpha)G,\qquad</a:t>
            </a:r>
          </a:p>
          <a:p xmlns:a="http://schemas.openxmlformats.org/drawingml/2006/main">
            <a:r>
              <a:t>\frac{\partial F'}{\partial\alpha}=(1-\tanh^2\alpha)G\odot D.</a:t>
            </a:r>
          </a:p>
          <a:p xmlns:a="http://schemas.openxmlformats.org/drawingml/2006/main">
            <a:r>
              <a:t>\tag{B7}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實際 G 也依賴特徵，完整梯度還有門控的鏈式項。原 F 的直接路徑提供一條恆等梯度通道，而新分支仍能學習。在這些新增模組中 α 初始 0.1，門控卷積初始為零，因此 `G=0.5`，初始相乘係數約 `0.5×tanh(0.1)=0.049834`。這不是「整體特徵只改變 5%」的保證，因為 D 與 F 的幅度可能不同。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門控本身也需要學習。令 G=σ(z_g)，固定 D 及其他依賴時：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\frac{\partial F'}{\partial z_g}</a:t>
            </a:r>
          </a:p>
          <a:p xmlns:a="http://schemas.openxmlformats.org/drawingml/2006/main">
            <a:r>
              <a:t> =\tanh(\alpha)D\odot G(1-G).</a:t>
            </a:r>
          </a:p>
          <a:p xmlns:a="http://schemas.openxmlformats.org/drawingml/2006/main">
            <a:r>
              <a:t>\tag{B8}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初始 G=0.5 時，G(1−G)=0.25，讓 gate 有更新機會。若 gate 後來接近 0 或 1，梯度可能較小；因此不能把初始中性門控當成已經學會分離陰影的證據。原路、細節路與 gate 共享上游時，完整反向傳播會把所有依賴項相加。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殘差學習的背景可參考 [ResNet](https://arxiv.org/abs/1512.03385)。本專案使用門控與小增益是具體工程設計，該論文的精度數字不能當作本專案的結果。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C. 00-baseline：陰影線索如何通過原主架構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C1. AttentionResiduals：在不同深度狀態間分配權重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令 Xⱼ 為同一區塊內的第 j 個特徵狀態：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\widetilde X_j=\frac{X_j}{\sqrt{\operatorname{mean}_c(X_j^2)+10^{-6}}},\quad</a:t>
            </a:r>
          </a:p>
          <a:p xmlns:a="http://schemas.openxmlformats.org/drawingml/2006/main">
            <a:r>
              <a:t>e_j=\sum_cq_c\widetilde X_{j,c},</a:t>
            </a:r>
          </a:p>
          <a:p xmlns:a="http://schemas.openxmlformats.org/drawingml/2006/main">
            <a:r>
              <a:t>\tag{C1}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a_j=\frac{e^{e_j}}{\sum_re^{e_r}},\qquad Z=\sum_ja_jX_j.</a:t>
            </a:r>
          </a:p>
          <a:p xmlns:a="http://schemas.openxmlformats.org/drawingml/2006/main">
            <a:r>
              <a:t>\tag{C2}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第一步是按位置跨通道的 RMS 正規化，用於計算權重，減輕單純特徵幅度差異的影響。q 是可學習通道查詢；第二式 softmax 沿「深度狀態」正規化，權重總和為 1。用正規化後的特徵計權重，但最後加權的是原 Xⱼ。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 初始為零，多個狀態初始等權；只有一個狀態時直接回傳。陰影中的低階邊緣可以透過早期狀態保留，但權重並沒有凹損／陰影語意標籤，仍需資料學習。RMS 正規化也不等同還原真實光照。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C2. FSNetShuffle：投影、通道重排與局部整合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U_j=\operatorname{Resize}(\operatorname{Conv}_{1\times1,j}(X_j)),\quad</a:t>
            </a:r>
          </a:p>
          <a:p xmlns:a="http://schemas.openxmlformats.org/drawingml/2006/main">
            <a:r>
              <a:t>F=\operatorname{Conv}_{3\times3}(\operatorname{Shuffle}_2([U_1,U_2])).</a:t>
            </a:r>
          </a:p>
          <a:p xmlns:a="http://schemas.openxmlformats.org/drawingml/2006/main">
            <a:r>
              <a:t>\tag{C3}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投影把兩個來源分配到目標通道；拼接後以兩組做 reshape、transpose 再 flatten，讓不同來源的通道交錯。Shuffle 只是通道置換，不產生新的空間細節；後續卷積才學習組合。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 YAML 的 FSNet 各輸入對是同一解析度的 Conv／AttentionResiduals 特徵，所以這些位置通常不用實際縮放。模組雖支援跨解析度處理，不能把這份 YAML 中每次 FSNet 都描述為 P2/P4 交換。真正跨尺度的融合主要由後續 CSAR 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C3. CSAR：同一位置比較不同來源尺度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先把來源特徵對齊到目標尺寸，每個 attention head 計算：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Q=W_qF_t,\quad K_s=W_{k,s}\operatorname{Resize}(F_s),\quad</a:t>
            </a:r>
          </a:p>
          <a:p xmlns:a="http://schemas.openxmlformats.org/drawingml/2006/main">
            <a:r>
              <a:t>V_s=W_{v,s}\operatorname{Resize}(F_s),</a:t>
            </a:r>
          </a:p>
          <a:p xmlns:a="http://schemas.openxmlformats.org/drawingml/2006/main">
            <a:r>
              <a:t>\tag{C4}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e_s(u,v)=\frac{\langle Q(u,v),K_s(u,v)\rangle}{\sqrt{d_k}},\quad</a:t>
            </a:r>
          </a:p>
          <a:p xmlns:a="http://schemas.openxmlformats.org/drawingml/2006/main">
            <a:r>
              <a:t>a_s=\operatorname{softmax}_{s}(e_s),\quad Z=\sum_sa_sV_s,</a:t>
            </a:r>
          </a:p>
          <a:p xmlns:a="http://schemas.openxmlformats.org/drawingml/2006/main">
            <a:r>
              <a:t>\tag{C5}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F_{out}=\operatorname{Proj}(Z+\operatorname{DWConv}_{3\times3}(V_t))</a:t>
            </a:r>
          </a:p>
          <a:p xmlns:a="http://schemas.openxmlformats.org/drawingml/2006/main">
            <a:r>
              <a:t>       +\operatorname{Shortcut}(F_t).</a:t>
            </a:r>
          </a:p>
          <a:p xmlns:a="http://schemas.openxmlformats.org/drawingml/2006/main">
            <a:r>
              <a:t>\tag{C6}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 的簡寫包含程式中的 1×1 Conv／BN。這裡 softmax 沿「來源尺度」進行，不是沿損壞類別，也不是全圖所有像素。內積衡量目標與來源的一致性，√dₖ 限制維度變大時的分數幅度，空間 depthwise 分支補入局部關係。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 規模、四個 heads 下，128 通道輸出的 dₖ=16，256 通道輸出的 dₖ=32。這不同於下一節語意 token 的固定 32 維 head。六個 CSAR 分成兩輪，每輪形成 P3/P4/P5。陰影中局部線索弱時，較大範圍的資訊可能有幫助；若深層特徵也把陰影當損壞，融合仍可能傳遞錯誤。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C4. DamageSemanticAttention：類別 token 讀取影像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每一尺度先將視覺特徵投影到 128 維，拉平成空間序列 N=H×W。LayerNorm 作用於每個 token 的通道：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\operatorname{LN}(x)=\gamma\frac{x-\operatorname{mean}(x)}</a:t>
            </a:r>
          </a:p>
          <a:p xmlns:a="http://schemas.openxmlformats.org/drawingml/2006/main">
            <a:r>
              <a:t> {\sqrt{\operatorname{var}(x)+\epsilon_{LN}}}+\beta.</a:t>
            </a:r>
          </a:p>
          <a:p xmlns:a="http://schemas.openxmlformats.org/drawingml/2006/main">
            <a:r>
              <a:t>\tag{C7}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LN 穩定通道間尺度，不負責估計陰影照明。八個可學習 damage tokens 依資料類別排列，沒有文字編碼器。四個 heads 各有 32 維：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Q=W_q\operatorname{LN}(T),\quad K_v=W_kV,\quad U=W_vV,</a:t>
            </a:r>
          </a:p>
          <a:p xmlns:a="http://schemas.openxmlformats.org/drawingml/2006/main">
            <a:r>
              <a:t>\quad A=\operatorname{softmax}_{space}(QK_v^T/\sqrt{32}),</a:t>
            </a:r>
          </a:p>
          <a:p xmlns:a="http://schemas.openxmlformats.org/drawingml/2006/main">
            <a:r>
              <a:t>\tag{C8}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T_1=T+W_o\operatorname{ConcatHeads}(AU),\quad</a:t>
            </a:r>
          </a:p>
          <a:p xmlns:a="http://schemas.openxmlformats.org/drawingml/2006/main">
            <a:r>
              <a:t>T'=\operatorname{LN}\{T_1+\operatorname{FFN}(T_1)\}.</a:t>
            </a:r>
          </a:p>
          <a:p xmlns:a="http://schemas.openxmlformats.org/drawingml/2006/main">
            <a:r>
              <a:t>\tag{C9}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C8 的 V 是經 1×1 投影、flatten／transpose 與 C7 的 LayerNorm 後的視覺序列。Kᵥ 表示 key 矩陣，避免與類別數 K=8 混淆；程式中的 Linear 含 bias，式中 W 表示完整仿射投影。A 對每個類別各自沿空間位置分配注意力。某些明亮位置的可靠凹損紋理可參與更新類別 token，接著影響整張特徵圖的回應；如果陰影中缺乏相關證據，注意力本身不能創造它。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FFN 是 LayerNorm、128→256 的線性投影、GELU、256→128 的投影。GELU 可寫成 `xΦ(x)`，Φ 為標準常態累積分布，提供平滑非線性；它不是額外的機率分類器。縮放點積注意力的背景見 [Attention Is All You Need](https://arxiv.org/abs/1706.03762)，本程式的類別 token 與視覺回饋依本地實作定義。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C5. 獨立類別回應及回饋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\ell_{c,p}=\langle W'_qT'_c,W'_kV_p\rangle/\sqrt{128}+b_c,</a:t>
            </a:r>
          </a:p>
          <a:p xmlns:a="http://schemas.openxmlformats.org/drawingml/2006/main">
            <a:r>
              <a:t>\quad r_{c,p}=\sigma(\ell_{c,p}),</a:t>
            </a:r>
          </a:p>
          <a:p xmlns:a="http://schemas.openxmlformats.org/drawingml/2006/main">
            <a:r>
              <a:t>\tag{C10}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S_p=\frac1{8}\sum_{c=1}^{8}r_{c,p}W_{sv}T'_c,</a:t>
            </a:r>
          </a:p>
          <a:p xmlns:a="http://schemas.openxmlformats.org/drawingml/2006/main">
            <a:r>
              <a:t>\qquad \widehat F=F+\gamma_s\operatorname{Conv}_{1\times1}(S).</a:t>
            </a:r>
          </a:p>
          <a:p xmlns:a="http://schemas.openxmlformats.org/drawingml/2006/main">
            <a:r>
              <a:t>\tag{C11}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與 C8 的空間 softmax 不同，C10 對每類各自取 sigmoid，因此 D 和 R 可在同一像素都高分。除以 8 平均類別回饋，γₛ 初始 0.001，且是原語意分支的直接可學習係數，**此處沒有 tanh**。不能把它和 01～03 新分支的 tanh(0.1) 混為一談。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\widehat F 真正送入 YOLO head，語意分支不只是旁觀的熱圖。四個來源為 P3 layer 18、P2 layer 2、P4 layer 19、P5 layer 20；P2 本來就有直接淺層路徑，02 是再加入 FSNet layer 3 的另一來源。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C6. 原 prototype 與最終 mask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令送入 head 的特徵順序為 P3/P2/P4/P5：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Z=F_{P3}+\sum_{s\in\{P2,P4,P5\}}</a:t>
            </a:r>
          </a:p>
          <a:p xmlns:a="http://schemas.openxmlformats.org/drawingml/2006/main">
            <a:r>
              <a:t> \operatorname{Resize}^{nearest}_{P3}(\operatorname{Conv}_{1\times1,s}(F_s)),</a:t>
            </a:r>
          </a:p>
          <a:p xmlns:a="http://schemas.openxmlformats.org/drawingml/2006/main">
            <a:r>
              <a:t>\tag{C12}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P_{old}=\operatorname{Conv}_{1\times1}\!\left[</a:t>
            </a:r>
          </a:p>
          <a:p xmlns:a="http://schemas.openxmlformats.org/drawingml/2006/main">
            <a:r>
              <a:t> \operatorname{Conv}_{3\times3}\!\left(</a:t>
            </a:r>
          </a:p>
          <a:p xmlns:a="http://schemas.openxmlformats.org/drawingml/2006/main">
            <a:r>
              <a:t> \operatorname{ConvTranspose}_{2,2}(\operatorname{Conv}_{3\times3}</a:t>
            </a:r>
          </a:p>
          <a:p xmlns:a="http://schemas.openxmlformats.org/drawingml/2006/main">
            <a:r>
              <a:t> (\operatorname{Conv}_{3\times3,fuse}(Z)))\right)\right],</a:t>
            </a:r>
          </a:p>
          <a:p xmlns:a="http://schemas.openxmlformats.org/drawingml/2006/main">
            <a:r>
              <a:t>\tag{C13}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z_i(u,v)=\sum_{k=1}^{32}c_{ik}P_k(u,v),\qquad p_i=\sigma(z_i).</a:t>
            </a:r>
          </a:p>
          <a:p xmlns:a="http://schemas.openxmlformats.org/drawingml/2006/main">
            <a:r>
              <a:t>\tag{C14}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C13 按程式依序是 feat_fuse、cv1、upsample、cv2、cv3，Conv 包含其 BN／SiLU。原路徑先在 80×80 融合，再用學習式轉置卷積放大到 160×160。P2 投影後會經 nearest 縮到 P3，未取樣到的局部位置可能流失；轉置卷積有能力學習重建樣式，但不保證找回所有原始細節。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32 張原型是共享的遮罩基底，不是 32 個類別，也不必是一張完整凹損圖。實例係數 cᵢₖ 將它們線性組合，再取 sigmoid。框的定位、分類與候選配對仍影響最終能否找到物件，不能只看原型畫得較細就宣稱凹損召回提高。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**00 的陰影作用與限制：**依靠現有多尺度、類別上下文與 P2 特徵處理低亮度形狀，沒有新增相對對比或原生 P2 解碼旁路。它提供共同基準，讓後續版的差異可歸因於新增架構。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G. 四版共用的監督：為何正確標記仍決定結果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G1. 最終實例的 BCE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\ell(z,y)=-y\log\sigma(z)-(1-y)\log(1-\sigma(z)),</a:t>
            </a:r>
          </a:p>
          <a:p xmlns:a="http://schemas.openxmlformats.org/drawingml/2006/main">
            <a:r>
              <a:t>\quad \frac{\partial\ell}{\partial z}=\sigma(z)-y.</a:t>
            </a:r>
          </a:p>
          <a:p xmlns:a="http://schemas.openxmlformats.org/drawingml/2006/main">
            <a:r>
              <a:t>\tag{G1}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實作使用穩定的 logits 形式。對 y=1 的漏掉像素，負梯度促使 logit 上升；對 y=0 的誤塗像素，正梯度促使 logit 下降。此關係是所有新分支學習完整範圍的直接來源之一。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令 Bᵢ 為該正樣本的 GT 框，Aᵢ 為其佔輸入影像的面積比例，HₘWₘ 為 prototype 像素數：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L_{mask}=\frac{\lambda_{seg}}{N_{pos}}</a:t>
            </a:r>
          </a:p>
          <a:p xmlns:a="http://schemas.openxmlformats.org/drawingml/2006/main">
            <a:r>
              <a:t>\sum_i\frac{1}{A_iH_mW_m}\sum_{u,v}\mathbf1[(u,v)\in B_i]\,\ell(z_i,y_i).</a:t>
            </a:r>
          </a:p>
          <a:p xmlns:a="http://schemas.openxmlformats.org/drawingml/2006/main">
            <a:r>
              <a:t>\tag{G2}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這是本地 mask loss 的正樣本／框內平均概括式，λseg 使用既有 `hyp.box`，框的位置先映射至 prototype 尺度；框架另有 batch 尺度處理。空目標走原空樣本處理，沒有除以零。i 是正樣本指派，一個實例可對應多個正樣本。若標記只圈凹損局部，loss 就只會教這個局部範圍。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G2. D/R 多標籤與重疊權重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各類 GT 是該類實例的逐像素聯集，兩類可以同時為 1；縮小語意監督圖時使用 max pooling 保留正例，但粗尺度上也可能把非常接近的物件合併到同一格。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w=1+2\mathbf1[\sum_cY_c&gt;1],\qquad</a:t>
            </a:r>
          </a:p>
          <a:p xmlns:a="http://schemas.openxmlformats.org/drawingml/2006/main">
            <a:r>
              <a:t>L_{wBCE}=\frac{\sum_{b,c,u,v}w\,\ell(z_c,Y_c)}{K\sum_{b,u,v}w}.</a:t>
            </a:r>
          </a:p>
          <a:p xmlns:a="http://schemas.openxmlformats.org/drawingml/2006/main">
            <a:r>
              <a:t>\tag{G3}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多類共現位置在 BCE 中具有相對 3:1 權重，經分母正規化後不等於總梯度固定放大三倍。每張圖、每個類別的 Dice 項為：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L_{Dice}=\operatorname{mean}_{b,c}\left[</a:t>
            </a:r>
          </a:p>
          <a:p xmlns:a="http://schemas.openxmlformats.org/drawingml/2006/main">
            <a:r>
              <a:t>1-\frac{2\sum_{u,v}p_cY_c+1}{\sum_{u,v}p_c+\sum_{u,v}Y_c+1}\right],</a:t>
            </a:r>
          </a:p>
          <a:p xmlns:a="http://schemas.openxmlformats.org/drawingml/2006/main">
            <a:r>
              <a:t>\tag{G4}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L_{aux}=0.5\operatorname{mean}_{4\ scales}</a:t>
            </a:r>
          </a:p>
          <a:p xmlns:a="http://schemas.openxmlformats.org/drawingml/2006/main">
            <a:r>
              <a:t>              (0.5L_{wBCE}+0.5L_{Dice}).</a:t>
            </a:r>
          </a:p>
          <a:p xmlns:a="http://schemas.openxmlformats.org/drawingml/2006/main">
            <a:r>
              <a:t>\tag{G5}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G4 的平滑常數是本程式設定的 1，Dice 沒有另外套用 G3 的像素權重。它衡量前景重合，BCE 提供逐位置監督，二者合併為既有語意項。沒有真實陰影標記時，這些公式也不會自動產生陰影監督。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原框、分類、DFL、heatmap、seedmap 等項維持原設定，本文不把未修改的項說成新方法。0929 也沒有額外加入 0928 的 Tversky extent loss 或成對陰影一致性 loss。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H. 陰影情境下的預期影響與驗證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情境 | 主要涉及的運算 | 可能幫助 | 需排查的副作用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暗處但仍有局部明暗差 | D3～D8 | 相對對比、方向變化可進入主幹 | 雜訊與陰影邊界也可能增強 |</a:t>
            </a:r>
          </a:p>
          <a:p xmlns:a="http://schemas.openxmlformats.org/drawingml/2006/main">
            <a:r>
              <a:t>| 深層特徵忽略細小凹損 | E1～E3 | 淺層線索直接影響分類、定位與遮罩 | 溝槽或污漬造成局部誤報 |</a:t>
            </a:r>
          </a:p>
          <a:p xmlns:a="http://schemas.openxmlformats.org/drawingml/2006/main">
            <a:r>
              <a:t>| 有偵測但只畫一小塊 | F1～F6 | 原生 P2 資訊參與遮罩組合 | 邊界外溢、錯標範圍被強化 |</a:t>
            </a:r>
          </a:p>
          <a:p xmlns:a="http://schemas.openxmlformats.org/drawingml/2006/main">
            <a:r>
              <a:t>| 凹損與鏽蝕共存 | C10、G3～G5 | 保留兩類獨立存在機率 | 粗尺度共現不一定是真實像素交集 |</a:t>
            </a:r>
          </a:p>
          <a:p xmlns:a="http://schemas.openxmlformats.org/drawingml/2006/main">
            <a:r>
              <a:t>| 完全黑暗或物理不可見 | B1、D4 | 沒有可靠的恢復保證 | 用上下文猜測可能造成假損壞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評估時區分陰影中的真正凹損與「純陰影但無損壞」負例。用固定 confidence／IoU 規則做實例一對一配對，另以有精細 GT 的遮罩計算：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\operatorname{Recall}=TP/(TP+FN),\quad</a:t>
            </a:r>
          </a:p>
          <a:p xmlns:a="http://schemas.openxmlformats.org/drawingml/2006/main">
            <a:r>
              <a:t>\operatorname{Precision}=TP/(TP+FP),\quad</a:t>
            </a:r>
          </a:p>
          <a:p xmlns:a="http://schemas.openxmlformats.org/drawingml/2006/main">
            <a:r>
              <a:t>\operatorname{IoU}=TP/(TP+FN+FP).</a:t>
            </a:r>
          </a:p>
          <a:p xmlns:a="http://schemas.openxmlformats.org/drawingml/2006/main">
            <a:r>
              <a:t>\tag{H1}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H1 可用於明確定義的像素或實例計數，但兩種單位不能混用。遮罩召回提高且精確率大跌，可能只是塗得更大。未偵測到的整個物件也必須列入漏檢，不能只評估成功配對者。分母為零時應採用事先約定的評估規則並揭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各版需使用相同資料、起始權重與訓練安排。新 XML 只有框，不能直接當作精細 mask；尤其新的 D24/D25 陰影位置與 D16 完整範圍，需要與實際訓練 polygon 一致。這張照片若仍在 train 集，只能作除錯案例，不是獨立精度證據。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I. 程式與公式對照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程式 | 主要公式 |</a:t>
            </a:r>
          </a:p>
          <a:p xmlns:a="http://schemas.openxmlformats.org/drawingml/2006/main">
            <a:r>
              <a:t>|---|---|</a:t>
            </a:r>
          </a:p>
          <a:p xmlns:a="http://schemas.openxmlformats.org/drawingml/2006/main">
            <a:r>
              <a:t>| [block.py](../ultralytics/nn/modules/block.py)：AttentionResiduals、FSNetShuffle、CSAR、Proto26MultiLabel | C1～C6、C12～C13 |</a:t>
            </a:r>
          </a:p>
          <a:p xmlns:a="http://schemas.openxmlformats.org/drawingml/2006/main">
            <a:r>
              <a:t>| [damage_semantic.py](../ultralytics/nn/modules/damage_semantic.py) | C7～C11 |</a:t>
            </a:r>
          </a:p>
          <a:p xmlns:a="http://schemas.openxmlformats.org/drawingml/2006/main">
            <a:r>
              <a:t>| [shadow_dent.py](../ultralytics/nn/modules/shadow_dent.py)：LuminanceDetail、DentDetailFusion | D1～D7、E1～E3 |</a:t>
            </a:r>
          </a:p>
          <a:p xmlns:a="http://schemas.openxmlformats.org/drawingml/2006/main">
            <a:r>
              <a:t>| [damage_architecture.py](../ultralytics/nn/modules/damage_architecture.py) | D8、F1～F5 |</a:t>
            </a:r>
          </a:p>
          <a:p xmlns:a="http://schemas.openxmlformats.org/drawingml/2006/main">
            <a:r>
              <a:t>| [head.py](../ultralytics/nn/modules/head.py)、[loss.py](../ultralytics/utils/loss.py) | C14、G1～G5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原模型／配套訓練 YAML 與執行方式見 [0929 架構文件](damage-architecture-0929.md)。93 項程式測試與既有權重移植檢查只證明受測條件下可執行，不代表陰影召回已提高；新分支仍需訓練與資料集驗證。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J. YAML 參數、空間尺度與數學運算的對應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四個檔是逐步累加的架構對照。`00-baseline` 沒有新增分支，01 加入口細節，02 再加兩條淺層直達連接，03 再加 prototype 旁路。各版模型檔如下：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[00-baseline.yaml](../ultralytics/cfg/models/11_myself/yolo11-6csar-arch-0929-00-baseline.yaml)</a:t>
            </a:r>
          </a:p>
          <a:p xmlns:a="http://schemas.openxmlformats.org/drawingml/2006/main">
            <a:r>
              <a:t>- [01-luma.yaml](../ultralytics/cfg/models/11_myself/yolo11-6csar-arch-0929-01-luma.yaml)</a:t>
            </a:r>
          </a:p>
          <a:p xmlns:a="http://schemas.openxmlformats.org/drawingml/2006/main">
            <a:r>
              <a:t>- [02-shallow.yaml](../ultralytics/cfg/models/11_myself/yolo11-6csar-arch-0929-02-shallow.yaml)</a:t>
            </a:r>
          </a:p>
          <a:p xmlns:a="http://schemas.openxmlformats.org/drawingml/2006/main">
            <a:r>
              <a:t>- [03-dualproto.yaml](../ultralytics/cfg/models/11_myself/yolo11-6csar-arch-0929-03-dualproto.yaml)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01 的 `[-1,1,LuminanceResidualStem,[64,3,2,0.1]]` 表示接前一輸入、建立一次新 stem、名義 64 通道、3×3 卷積、stride 2、初始 α=0.1。n 模型的通道按以下方式縮放：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C_{actual}=8\left\lceil\frac{\min(C_{yaml},1024)\times0.25}{8}\right\rceil.</a:t>
            </a:r>
          </a:p>
          <a:p xmlns:a="http://schemas.openxmlformats.org/drawingml/2006/main">
            <a:r>
              <a:t>\tag{J1}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因此入口實際為 16 通道，prototype 中間通道 256 變為 64。式中的向上取整讓通道保持 8 的倍數；它控制計算容量，不是陰影強度。類別數 `nc` 由資料集覆寫為 8，原型數 32 不按這個寬度比例縮放。一般重複次數大於 1 的模組使用 `max(round(n×0.5),1)`；此為四版共用的 n 深度設定。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02／03 的 head 輸入為 `[22,25,28,31,23,26,29,32,6,3]`。前四路是特徵、接著四路是類別 logits、末兩路是新增淺層來源。`[nc,32,256,0.5,2.0,0.1]` 的末三個數分別是原有語意 loss gain、原有共現額外權重與新增分支增益初值；前三者決定輸出類別與原型容量。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這四版沒有建立新 Shadow 類別，沒有將陰影像素作為另一個 GT mask。01 的 G、02 的 G、03 的 G 都是任務內部門控，其值不能解讀為經校準的陰影機率。新分支必須訓練，只有 YAML 不會使既有 last0926.pt 自動學到新功能。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手算範例：分割修正不等於全部原型變亮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只看一個像素，若原 logit z=−1，則 p=σ(−1)≈0.269。假設學習後的原型殘差經係數組合，令該像素的 logit 增加 0.2，則 p′=σ(−0.8)≈0.310。這表示機率改變，不代表已越過顯示遮罩的切分門檻，更不等於物件 confidence 變成 0.310。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對真值 y=1、p=0.1 的漏掉像素，BCE 的 logit 梯度是 −0.9。若某原型係數 cᵢₖ=−0.5、β=0.1、G=0.5，F6 的該原型梯度約為 +0.0224。梯度下降會降低這個原型值，乘上負係數後反而使最終 logit 提高。所有數值均為公式示例，不是實測改善。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三種數值應分開閱讀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數值 | 意義 | 是否直接等同另一個數值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內部 gate G | 控制新增特徵的相對貢獻 | 不是陰影分類機率 |</a:t>
            </a:r>
          </a:p>
          <a:p xmlns:a="http://schemas.openxmlformats.org/drawingml/2006/main">
            <a:r>
              <a:t>| 實例像素 pᵢ=σ(zᵢ) | 像素屬於某個實例的估計 | 不等於物件 confidence |</a:t>
            </a:r>
          </a:p>
          <a:p xmlns:a="http://schemas.openxmlformats.org/drawingml/2006/main">
            <a:r>
              <a:t>| 顯示／篩選用 confidence | 物件候選的分類分數 | 隱藏文字不改變篩選門檻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程式來源：ultralytics/nn/modules/{damage_architecture.py,shadow_dent.py,damage_semantic.py,block.py,head.py}；ultralytics/utils/loss.py；四個 yolo11-6csar-arch-0929-*.yaml。以 2026-09-30 工作區程式為準。</a:t>
            </a:r>
          </a:p>
          <a:p xmlns:a="http://schemas.openxmlformats.org/drawingml/2006/main">
            <a:r>
              <a:t>原理參考：https://arxiv.org/abs/1706.03762；https://arxiv.org/abs/1512.03385；https://arxiv.org/abs/1612.03144；https://arxiv.org/abs/1505.04597。文獻只用於原理背景，未移用其效能數字。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0bb97a4dbc422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35243c1831486a" /><Relationship Type="http://schemas.openxmlformats.org/officeDocument/2006/relationships/slideLayout" Target="/ppt/slideLayouts/slideLayout1.xml" Id="R684d3414af73418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4d3414af7341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98f1e65d9c4e5a" /><Relationship Type="http://schemas.openxmlformats.org/officeDocument/2006/relationships/image" Target="/ppt/media/image.jpeg" Id="Rababd410fc094545" /><Relationship Type="http://schemas.openxmlformats.org/officeDocument/2006/relationships/notesSlide" Target="/ppt/notesSlides/notesSlide1.xml" Id="R65cc98cd8581417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b7844502ba4a19" /><Relationship Type="http://schemas.openxmlformats.org/officeDocument/2006/relationships/notesSlide" Target="/ppt/notesSlides/notesSlide2.xml" Id="Rcfdc21479a9c40c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">
            <a:extLst xmlns:a="http://schemas.openxmlformats.org/drawingml/2006/main">
              <a:ext uri="{FF2B5EF4-FFF2-40B4-BE49-F238E27FC236}">
                <a16:creationId xmlns:a16="http://schemas.microsoft.com/office/drawing/2014/main" id="{467E8C52-C503-47C9-8B1F-064897FE3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53447"/>
                </a:solidFill>
                <a:latin typeface="Noto Sans TC"/>
                <a:ea typeface="Noto Sans TC"/>
                <a:cs typeface="Noto Sans TC"/>
              </a:defRPr>
            </a:pPr>
            <a:r>
              <a:rPr sz="3375" b="1">
                <a:solidFill>
                  <a:srgbClr val="153447"/>
                </a:solidFill>
                <a:latin typeface="Noto Sans TC"/>
                <a:ea typeface="Noto Sans TC"/>
                <a:cs typeface="Noto Sans TC"/>
              </a:rPr>
              <a:t>00 基準架構的陰影線索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2AE6571-6D81-4CF9-B170-6714D163F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57275"/>
            <a:ext cx="1101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95C69"/>
                </a:solidFill>
                <a:latin typeface="Noto Sans TC"/>
                <a:ea typeface="Noto Sans TC"/>
                <a:cs typeface="Noto Sans TC"/>
              </a:defRPr>
            </a:pPr>
            <a:r>
              <a:rPr sz="1950" b="0">
                <a:solidFill>
                  <a:srgbClr val="495C69"/>
                </a:solidFill>
                <a:latin typeface="Noto Sans TC"/>
                <a:ea typeface="Noto Sans TC"/>
                <a:cs typeface="Noto Sans TC"/>
              </a:rPr>
              <a:t>原主幹與四個語意分支，作為後續架構的共同對照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88FE9187-7713-47FD-84C1-69672759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15075"/>
            <a:ext cx="1101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02" b="0">
                <a:solidFill>
                  <a:srgbClr val="495C69"/>
                </a:solidFill>
                <a:latin typeface="Noto Sans TC"/>
                <a:ea typeface="Noto Sans TC"/>
                <a:cs typeface="Noto Sans TC"/>
              </a:defRPr>
            </a:pPr>
            <a:r>
              <a:rPr sz="1702" b="0">
                <a:solidFill>
                  <a:srgbClr val="495C69"/>
                </a:solidFill>
                <a:latin typeface="Noto Sans TC"/>
                <a:ea typeface="Noto Sans TC"/>
                <a:cs typeface="Noto Sans TC"/>
              </a:rPr>
              <a:t>陰影辨識目標：找到暗處損壞，並控制純陰影誤報。目前沒有獨立 Shadow 類別。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abd410fc094545"/>
          <a:stretch xmlns:a="http://schemas.openxmlformats.org/drawingml/2006/main"/>
        </p:blipFill>
        <p:spPr>
          <a:xfrm xmlns:a="http://schemas.openxmlformats.org/drawingml/2006/main">
            <a:off x="590550" y="1752600"/>
            <a:ext cx="4572000" cy="3429000"/>
          </a:xfrm>
          <a:prstGeom xmlns:a="http://schemas.openxmlformats.org/drawingml/2006/main" prst="rect">
            <a:avLst/>
          </a:prstGeom>
        </p:spPr>
      </p:pic>
      <p:sp>
        <p:nvSpPr>
          <p:cNvPr id="5" name="photo-caption">
            <a:extLst xmlns:a="http://schemas.openxmlformats.org/drawingml/2006/main">
              <a:ext uri="{FF2B5EF4-FFF2-40B4-BE49-F238E27FC236}">
                <a16:creationId xmlns:a16="http://schemas.microsoft.com/office/drawing/2014/main" id="{AA51BA24-FA41-419D-A87B-1D3FB7EE5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95900"/>
            <a:ext cx="4714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95C69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495C69"/>
                </a:solidFill>
                <a:latin typeface="Noto Sans TC"/>
                <a:ea typeface="Noto Sans TC"/>
                <a:cs typeface="Noto Sans TC"/>
              </a:rPr>
              <a:t>既有 last0926.pt 推論，已隱藏信心分數</a:t>
            </a:r>
          </a:p>
          <a:p xmlns:a="http://schemas.openxmlformats.org/drawingml/2006/main">
            <a:pPr>
              <a:defRPr sz="1725" b="0">
                <a:solidFill>
                  <a:srgbClr val="495C69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495C69"/>
                </a:solidFill>
                <a:latin typeface="Noto Sans TC"/>
                <a:ea typeface="Noto Sans TC"/>
                <a:cs typeface="Noto Sans TC"/>
              </a:rPr>
              <a:t>橘色為 D，綠色為 R。此圖用於說明問題。</a:t>
            </a:r>
          </a:p>
        </p:txBody>
      </p:sp>
      <p:sp>
        <p:nvSpPr>
          <p:cNvPr id="6" name="imaging-heading">
            <a:extLst xmlns:a="http://schemas.openxmlformats.org/drawingml/2006/main">
              <a:ext uri="{FF2B5EF4-FFF2-40B4-BE49-F238E27FC236}">
                <a16:creationId xmlns:a16="http://schemas.microsoft.com/office/drawing/2014/main" id="{0286434F-84DD-400F-BD41-1CF38352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1695450"/>
            <a:ext cx="5810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B80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007B80"/>
                </a:solidFill>
                <a:latin typeface="Noto Sans TC"/>
                <a:ea typeface="Noto Sans TC"/>
                <a:cs typeface="Noto Sans TC"/>
              </a:rPr>
              <a:t>低亮度仍可能包含形狀線索</a:t>
            </a:r>
          </a:p>
        </p:txBody>
      </p:sp>
      <p:sp>
        <p:nvSpPr>
          <p:cNvPr id="7" name="imaging-formula">
            <a:extLst xmlns:a="http://schemas.openxmlformats.org/drawingml/2006/main">
              <a:ext uri="{FF2B5EF4-FFF2-40B4-BE49-F238E27FC236}">
                <a16:creationId xmlns:a16="http://schemas.microsoft.com/office/drawing/2014/main" id="{A89785D2-83BF-4952-BA74-99C8823E0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152650"/>
            <a:ext cx="581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447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153447"/>
                </a:solidFill>
                <a:latin typeface="Noto Sans TC"/>
                <a:ea typeface="Noto Sans TC"/>
                <a:cs typeface="Noto Sans TC"/>
              </a:rPr>
              <a:t>I ≈ Lρ + η</a:t>
            </a:r>
          </a:p>
        </p:txBody>
      </p:sp>
      <p:sp>
        <p:nvSpPr>
          <p:cNvPr id="8" name="imaging-meaning">
            <a:extLst xmlns:a="http://schemas.openxmlformats.org/drawingml/2006/main">
              <a:ext uri="{FF2B5EF4-FFF2-40B4-BE49-F238E27FC236}">
                <a16:creationId xmlns:a16="http://schemas.microsoft.com/office/drawing/2014/main" id="{C0FAE8C5-28B5-4EDF-812C-5E05A9FB1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667000"/>
            <a:ext cx="581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95C69"/>
                </a:solidFill>
                <a:latin typeface="Noto Sans TC"/>
                <a:ea typeface="Noto Sans TC"/>
                <a:cs typeface="Noto Sans TC"/>
              </a:defRPr>
            </a:pPr>
            <a:r>
              <a:rPr sz="1950" b="0">
                <a:solidFill>
                  <a:srgbClr val="495C69"/>
                </a:solidFill>
                <a:latin typeface="Noto Sans TC"/>
                <a:ea typeface="Noto Sans TC"/>
                <a:cs typeface="Noto Sans TC"/>
              </a:rPr>
              <a:t>照明 L 與表面反射 ρ 共同影響影像。</a:t>
            </a:r>
          </a:p>
          <a:p xmlns:a="http://schemas.openxmlformats.org/drawingml/2006/main">
            <a:pPr>
              <a:defRPr sz="1950" b="0">
                <a:solidFill>
                  <a:srgbClr val="495C69"/>
                </a:solidFill>
                <a:latin typeface="Noto Sans TC"/>
                <a:ea typeface="Noto Sans TC"/>
                <a:cs typeface="Noto Sans TC"/>
              </a:defRPr>
            </a:pPr>
            <a:r>
              <a:rPr sz="1950" b="0">
                <a:solidFill>
                  <a:srgbClr val="495C69"/>
                </a:solidFill>
                <a:latin typeface="Noto Sans TC"/>
                <a:ea typeface="Noto Sans TC"/>
                <a:cs typeface="Noto Sans TC"/>
              </a:rPr>
              <a:t>暗區可能來自陰影、形變或材質。</a:t>
            </a:r>
          </a:p>
        </p:txBody>
      </p:sp>
      <p:sp>
        <p:nvSpPr>
          <p:cNvPr id="9" name="residual-heading">
            <a:extLst xmlns:a="http://schemas.openxmlformats.org/drawingml/2006/main">
              <a:ext uri="{FF2B5EF4-FFF2-40B4-BE49-F238E27FC236}">
                <a16:creationId xmlns:a16="http://schemas.microsoft.com/office/drawing/2014/main" id="{73BAD226-F2A7-400F-8B29-FD2CC552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3486150"/>
            <a:ext cx="5810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B80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007B80"/>
                </a:solidFill>
                <a:latin typeface="Noto Sans TC"/>
                <a:ea typeface="Noto Sans TC"/>
                <a:cs typeface="Noto Sans TC"/>
              </a:rPr>
              <a:t>跨深度狀態的 AttentionResiduals</a:t>
            </a:r>
          </a:p>
        </p:txBody>
      </p:sp>
      <p:sp>
        <p:nvSpPr>
          <p:cNvPr id="10" name="residual-formula">
            <a:extLst xmlns:a="http://schemas.openxmlformats.org/drawingml/2006/main">
              <a:ext uri="{FF2B5EF4-FFF2-40B4-BE49-F238E27FC236}">
                <a16:creationId xmlns:a16="http://schemas.microsoft.com/office/drawing/2014/main" id="{B2BFEF80-D9FC-47A8-93C1-44D94E86E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3933825"/>
            <a:ext cx="581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3447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153447"/>
                </a:solidFill>
                <a:latin typeface="Noto Sans TC"/>
                <a:ea typeface="Noto Sans TC"/>
                <a:cs typeface="Noto Sans TC"/>
              </a:rPr>
              <a:t>aⱼ = softmax狀態(qᵀ RMS(Xⱼ))</a:t>
            </a:r>
          </a:p>
        </p:txBody>
      </p:sp>
      <p:sp>
        <p:nvSpPr>
          <p:cNvPr id="11" name="csar-heading">
            <a:extLst xmlns:a="http://schemas.openxmlformats.org/drawingml/2006/main">
              <a:ext uri="{FF2B5EF4-FFF2-40B4-BE49-F238E27FC236}">
                <a16:creationId xmlns:a16="http://schemas.microsoft.com/office/drawing/2014/main" id="{650E720B-0726-40FF-B3A8-FD734410C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4495800"/>
            <a:ext cx="5810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B80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007B80"/>
                </a:solidFill>
                <a:latin typeface="Noto Sans TC"/>
                <a:ea typeface="Noto Sans TC"/>
                <a:cs typeface="Noto Sans TC"/>
              </a:rPr>
              <a:t>跨來源尺度的 CSAR</a:t>
            </a:r>
          </a:p>
        </p:txBody>
      </p:sp>
      <p:sp>
        <p:nvSpPr>
          <p:cNvPr id="12" name="csar-formula">
            <a:extLst xmlns:a="http://schemas.openxmlformats.org/drawingml/2006/main">
              <a:ext uri="{FF2B5EF4-FFF2-40B4-BE49-F238E27FC236}">
                <a16:creationId xmlns:a16="http://schemas.microsoft.com/office/drawing/2014/main" id="{019EF9B7-3B5D-4086-9700-5DB2087D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4953000"/>
            <a:ext cx="581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53447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53447"/>
                </a:solidFill>
                <a:latin typeface="Noto Sans TC"/>
                <a:ea typeface="Noto Sans TC"/>
                <a:cs typeface="Noto Sans TC"/>
              </a:rPr>
              <a:t>aₛ = softmax尺度(Q·Kₛ / √dₖ)</a:t>
            </a:r>
          </a:p>
        </p:txBody>
      </p:sp>
      <p:sp>
        <p:nvSpPr>
          <p:cNvPr id="13" name="csar-meaning">
            <a:extLst xmlns:a="http://schemas.openxmlformats.org/drawingml/2006/main">
              <a:ext uri="{FF2B5EF4-FFF2-40B4-BE49-F238E27FC236}">
                <a16:creationId xmlns:a16="http://schemas.microsoft.com/office/drawing/2014/main" id="{AF776E3E-9682-4346-AFBA-780C4177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5486400"/>
            <a:ext cx="581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95C69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495C69"/>
                </a:solidFill>
                <a:latin typeface="Noto Sans TC"/>
                <a:ea typeface="Noto Sans TC"/>
                <a:cs typeface="Noto Sans TC"/>
              </a:rPr>
              <a:t>保留目標特徵，再融合尺度與局部線索。</a:t>
            </a:r>
          </a:p>
          <a:p xmlns:a="http://schemas.openxmlformats.org/drawingml/2006/main">
            <a:pPr>
              <a:defRPr sz="1875" b="0">
                <a:solidFill>
                  <a:srgbClr val="495C69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495C69"/>
                </a:solidFill>
                <a:latin typeface="Noto Sans TC"/>
                <a:ea typeface="Noto Sans TC"/>
                <a:cs typeface="Noto Sans TC"/>
              </a:rPr>
              <a:t>權重不是經校準的陰影機率。</a:t>
            </a:r>
          </a:p>
        </p:txBody>
      </p:sp>
    </p:spTree>
    <p:extLst>
      <p:ext uri="{BB962C8B-B14F-4D97-AF65-F5344CB8AC3E}">
        <p14:creationId xmlns:p14="http://schemas.microsoft.com/office/powerpoint/2010/main" val="14737114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">
            <a:extLst xmlns:a="http://schemas.openxmlformats.org/drawingml/2006/main">
              <a:ext uri="{FF2B5EF4-FFF2-40B4-BE49-F238E27FC236}">
                <a16:creationId xmlns:a16="http://schemas.microsoft.com/office/drawing/2014/main" id="{94A9DCD4-C504-4A10-B05B-2ECD5B729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53447"/>
                </a:solidFill>
                <a:latin typeface="Noto Sans TC"/>
                <a:ea typeface="Noto Sans TC"/>
                <a:cs typeface="Noto Sans TC"/>
              </a:defRPr>
            </a:pPr>
            <a:r>
              <a:rPr sz="3375" b="1">
                <a:solidFill>
                  <a:srgbClr val="153447"/>
                </a:solidFill>
                <a:latin typeface="Noto Sans TC"/>
                <a:ea typeface="Noto Sans TC"/>
                <a:cs typeface="Noto Sans TC"/>
              </a:rPr>
              <a:t>00 類別查詢與最終實例遮罩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F2BC56A-3C42-4B19-8D46-64FE57AA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57275"/>
            <a:ext cx="1101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95C69"/>
                </a:solidFill>
                <a:latin typeface="Noto Sans TC"/>
                <a:ea typeface="Noto Sans TC"/>
                <a:cs typeface="Noto Sans TC"/>
              </a:defRPr>
            </a:pPr>
            <a:r>
              <a:rPr sz="1950" b="0">
                <a:solidFill>
                  <a:srgbClr val="495C69"/>
                </a:solidFill>
                <a:latin typeface="Noto Sans TC"/>
                <a:ea typeface="Noto Sans TC"/>
                <a:cs typeface="Noto Sans TC"/>
              </a:rPr>
              <a:t>空間注意力、各類獨立回應及原 prototype 解碼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95269D65-79F5-4950-AE00-58595B8C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15075"/>
            <a:ext cx="1101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02" b="0">
                <a:solidFill>
                  <a:srgbClr val="495C69"/>
                </a:solidFill>
                <a:latin typeface="Noto Sans TC"/>
                <a:ea typeface="Noto Sans TC"/>
                <a:cs typeface="Noto Sans TC"/>
              </a:defRPr>
            </a:pPr>
            <a:r>
              <a:rPr sz="1702" b="0">
                <a:solidFill>
                  <a:srgbClr val="495C69"/>
                </a:solidFill>
                <a:latin typeface="Noto Sans TC"/>
                <a:ea typeface="Noto Sans TC"/>
                <a:cs typeface="Noto Sans TC"/>
              </a:rPr>
              <a:t>基準參數 6,302,676。四版共用原分割 loss，沒有啟用 0928 的 training_aux。</a:t>
            </a:r>
          </a:p>
        </p:txBody>
      </p:sp>
      <p:sp>
        <p:nvSpPr>
          <p:cNvPr id="4" name="token-heading">
            <a:extLst xmlns:a="http://schemas.openxmlformats.org/drawingml/2006/main">
              <a:ext uri="{FF2B5EF4-FFF2-40B4-BE49-F238E27FC236}">
                <a16:creationId xmlns:a16="http://schemas.microsoft.com/office/drawing/2014/main" id="{40679788-9316-416D-82BC-04FF1CF1F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24025"/>
            <a:ext cx="5334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B80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007B80"/>
                </a:solidFill>
                <a:latin typeface="Noto Sans TC"/>
                <a:ea typeface="Noto Sans TC"/>
                <a:cs typeface="Noto Sans TC"/>
              </a:rPr>
              <a:t>八個類別 token，各自讀取影像</a:t>
            </a:r>
          </a:p>
        </p:txBody>
      </p:sp>
      <p:sp>
        <p:nvSpPr>
          <p:cNvPr id="5" name="token-attention">
            <a:extLst xmlns:a="http://schemas.openxmlformats.org/drawingml/2006/main">
              <a:ext uri="{FF2B5EF4-FFF2-40B4-BE49-F238E27FC236}">
                <a16:creationId xmlns:a16="http://schemas.microsoft.com/office/drawing/2014/main" id="{81DA06DF-AF87-4FE4-95B9-E848FADE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19325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53447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53447"/>
                </a:solidFill>
                <a:latin typeface="Noto Sans TC"/>
                <a:ea typeface="Noto Sans TC"/>
                <a:cs typeface="Noto Sans TC"/>
              </a:rPr>
              <a:t>A = softmax空間(QKᵥᵀ / √32)</a:t>
            </a:r>
          </a:p>
        </p:txBody>
      </p:sp>
      <p:sp>
        <p:nvSpPr>
          <p:cNvPr id="6" name="token-attention-note">
            <a:extLst xmlns:a="http://schemas.openxmlformats.org/drawingml/2006/main">
              <a:ext uri="{FF2B5EF4-FFF2-40B4-BE49-F238E27FC236}">
                <a16:creationId xmlns:a16="http://schemas.microsoft.com/office/drawing/2014/main" id="{ADA8EFF5-2D99-4DD6-BEB4-EECA3F74F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622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95C69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495C69"/>
                </a:solidFill>
                <a:latin typeface="Noto Sans TC"/>
                <a:ea typeface="Noto Sans TC"/>
                <a:cs typeface="Noto Sans TC"/>
              </a:rPr>
              <a:t>四個 heads 各 32 維，更新 token T′。</a:t>
            </a:r>
          </a:p>
        </p:txBody>
      </p:sp>
      <p:sp>
        <p:nvSpPr>
          <p:cNvPr id="7" name="token-response">
            <a:extLst xmlns:a="http://schemas.openxmlformats.org/drawingml/2006/main">
              <a:ext uri="{FF2B5EF4-FFF2-40B4-BE49-F238E27FC236}">
                <a16:creationId xmlns:a16="http://schemas.microsoft.com/office/drawing/2014/main" id="{E55A6F48-13C5-4613-B0C9-CF983CBFB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09925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53447"/>
                </a:solidFill>
                <a:latin typeface="Noto Sans TC"/>
                <a:ea typeface="Noto Sans TC"/>
                <a:cs typeface="Noto Sans TC"/>
              </a:defRPr>
            </a:pPr>
            <a:r>
              <a:rPr sz="2250" b="1">
                <a:solidFill>
                  <a:srgbClr val="153447"/>
                </a:solidFill>
                <a:latin typeface="Noto Sans TC"/>
                <a:ea typeface="Noto Sans TC"/>
                <a:cs typeface="Noto Sans TC"/>
              </a:rPr>
              <a:t>r = σ(Q′K′ᵀ / √128 + b)</a:t>
            </a:r>
          </a:p>
        </p:txBody>
      </p:sp>
      <p:sp>
        <p:nvSpPr>
          <p:cNvPr id="8" name="token-response-note">
            <a:extLst xmlns:a="http://schemas.openxmlformats.org/drawingml/2006/main">
              <a:ext uri="{FF2B5EF4-FFF2-40B4-BE49-F238E27FC236}">
                <a16:creationId xmlns:a16="http://schemas.microsoft.com/office/drawing/2014/main" id="{4CDD7711-95C7-47BC-8968-2DEDCA0C4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33800"/>
            <a:ext cx="5334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95C69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495C69"/>
                </a:solidFill>
                <a:latin typeface="Noto Sans TC"/>
                <a:ea typeface="Noto Sans TC"/>
                <a:cs typeface="Noto Sans TC"/>
              </a:rPr>
              <a:t>D、R 各自取 sigmoid，可同位置共存。</a:t>
            </a:r>
          </a:p>
        </p:txBody>
      </p:sp>
      <p:sp>
        <p:nvSpPr>
          <p:cNvPr id="9" name="mask-heading">
            <a:extLst xmlns:a="http://schemas.openxmlformats.org/drawingml/2006/main">
              <a:ext uri="{FF2B5EF4-FFF2-40B4-BE49-F238E27FC236}">
                <a16:creationId xmlns:a16="http://schemas.microsoft.com/office/drawing/2014/main" id="{569178B7-7423-467C-A0CD-5F9E5C61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724025"/>
            <a:ext cx="51720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B80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007B80"/>
                </a:solidFill>
                <a:latin typeface="Noto Sans TC"/>
                <a:ea typeface="Noto Sans TC"/>
                <a:cs typeface="Noto Sans TC"/>
              </a:rPr>
              <a:t>原型由 P3 融合後上採樣</a:t>
            </a:r>
          </a:p>
        </p:txBody>
      </p:sp>
      <p:sp>
        <p:nvSpPr>
          <p:cNvPr id="10" name="mask-combination">
            <a:extLst xmlns:a="http://schemas.openxmlformats.org/drawingml/2006/main">
              <a:ext uri="{FF2B5EF4-FFF2-40B4-BE49-F238E27FC236}">
                <a16:creationId xmlns:a16="http://schemas.microsoft.com/office/drawing/2014/main" id="{CDE1D3CB-ABE0-40D9-81C5-EE2CB78F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228850"/>
            <a:ext cx="51720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53447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53447"/>
                </a:solidFill>
                <a:latin typeface="Noto Sans TC"/>
                <a:ea typeface="Noto Sans TC"/>
                <a:cs typeface="Noto Sans TC"/>
              </a:rPr>
              <a:t>zᵢ = Σₖ cᵢₖPₖ，pᵢ = σ(zᵢ)</a:t>
            </a:r>
          </a:p>
        </p:txBody>
      </p:sp>
      <p:sp>
        <p:nvSpPr>
          <p:cNvPr id="11" name="mask-note">
            <a:extLst xmlns:a="http://schemas.openxmlformats.org/drawingml/2006/main">
              <a:ext uri="{FF2B5EF4-FFF2-40B4-BE49-F238E27FC236}">
                <a16:creationId xmlns:a16="http://schemas.microsoft.com/office/drawing/2014/main" id="{28D3C60C-1323-4BA2-941D-A63019B39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819400"/>
            <a:ext cx="5172075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95C69"/>
                </a:solidFill>
                <a:latin typeface="Noto Sans TC"/>
                <a:ea typeface="Noto Sans TC"/>
                <a:cs typeface="Noto Sans TC"/>
              </a:defRPr>
            </a:pPr>
            <a:r>
              <a:rPr sz="1950" b="0">
                <a:solidFill>
                  <a:srgbClr val="495C69"/>
                </a:solidFill>
                <a:latin typeface="Noto Sans TC"/>
                <a:ea typeface="Noto Sans TC"/>
                <a:cs typeface="Noto Sans TC"/>
              </a:rPr>
              <a:t>32 張共享原型，配合每個實例的係數。</a:t>
            </a:r>
          </a:p>
          <a:p xmlns:a="http://schemas.openxmlformats.org/drawingml/2006/main">
            <a:pPr>
              <a:defRPr sz="1950" b="0">
                <a:solidFill>
                  <a:srgbClr val="495C69"/>
                </a:solidFill>
                <a:latin typeface="Noto Sans TC"/>
                <a:ea typeface="Noto Sans TC"/>
                <a:cs typeface="Noto Sans TC"/>
              </a:defRPr>
            </a:pPr>
            <a:r>
              <a:rPr sz="1950" b="0">
                <a:solidFill>
                  <a:srgbClr val="495C69"/>
                </a:solidFill>
                <a:latin typeface="Noto Sans TC"/>
                <a:ea typeface="Noto Sans TC"/>
                <a:cs typeface="Noto Sans TC"/>
              </a:rPr>
              <a:t>P2 160² 在原路徑先縮至 P3 80²，</a:t>
            </a:r>
          </a:p>
          <a:p xmlns:a="http://schemas.openxmlformats.org/drawingml/2006/main">
            <a:pPr>
              <a:defRPr sz="1950" b="0">
                <a:solidFill>
                  <a:srgbClr val="495C69"/>
                </a:solidFill>
                <a:latin typeface="Noto Sans TC"/>
                <a:ea typeface="Noto Sans TC"/>
                <a:cs typeface="Noto Sans TC"/>
              </a:defRPr>
            </a:pPr>
            <a:r>
              <a:rPr sz="1950" b="0">
                <a:solidFill>
                  <a:srgbClr val="495C69"/>
                </a:solidFill>
                <a:latin typeface="Noto Sans TC"/>
                <a:ea typeface="Noto Sans TC"/>
                <a:cs typeface="Noto Sans TC"/>
              </a:rPr>
              <a:t>再由轉置卷積產生 160² 原型。</a:t>
            </a:r>
          </a:p>
        </p:txBody>
      </p:sp>
      <p:graphicFrame>
        <p:nvGraphicFramePr>
          <p:cNvPr id="24" name=""/>
          <p:cNvGraphicFramePr/>
          <p:nvPr/>
        </p:nvGraphicFramePr>
        <p:xfrm>
          <a:off xmlns:a="http://schemas.openxmlformats.org/drawingml/2006/main" x="590550" y="4400550"/>
          <a:ext xmlns:a="http://schemas.openxmlformats.org/drawingml/2006/main" cx="11010900" cy="1524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267200"/>
                <a:gridCol w="4267200"/>
              </a:tblGrid>
              <a:tr h="5080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運算</a:t>
                      </a:r>
                    </a:p>
                  </a:txBody>
                  <a:tcPr marL="91440" marR="91440" marT="45720" marB="45720">
                    <a:solidFill>
                      <a:srgbClr val="1534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對陰影凹損的可能作用</a:t>
                      </a:r>
                    </a:p>
                  </a:txBody>
                  <a:tcPr marL="91440" marR="91440" marT="45720" marB="45720">
                    <a:solidFill>
                      <a:srgbClr val="1534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仍需驗證的限制</a:t>
                      </a:r>
                    </a:p>
                  </a:txBody>
                  <a:tcPr marL="91440" marR="91440" marT="45720" marB="45720">
                    <a:solidFill>
                      <a:srgbClr val="153447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447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多尺度與 token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447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利用局部形狀及類別上下文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447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注意力不能補出不可見資訊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447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pᵢ = σ(zᵢ)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447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將共享原型組合成實例遮罩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447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仍受候選框、配對與標記影響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2454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2026-09-30T04:40:11.6700000Z</dcterms:created>
  <dcterms:modified xsi:type="dcterms:W3CDTF">2026-09-30T04:40:11.6700000Z</dcterms:modified>
</coreProperties>
</file>